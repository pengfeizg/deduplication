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5A4E54-F30F-4EDB-BDBB-B67DB6E9A500}" v="25" dt="2026-04-22T17:45:48.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814" autoAdjust="0"/>
  </p:normalViewPr>
  <p:slideViewPr>
    <p:cSldViewPr snapToGrid="0" snapToObjects="1">
      <p:cViewPr varScale="1">
        <p:scale>
          <a:sx n="115" d="100"/>
          <a:sy n="115" d="100"/>
        </p:scale>
        <p:origin x="14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8475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Today I’ll present an AI-driven approach to reducing alert fatigue in Security Operations Centers by converting large volumes of alerts into structured, incident-level intelligence.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SOCs are not limited by detection capability, but by the volume of alerts they must process. Systems like Suricata generate hundreds of thousands of alerts daily, many of which are duplicates of the same activity. This leads to analyst fatigue, slower response times, and missed threats. The core issue is not detecting activity but rather turning alerts into actionable intelligence.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replaces static rule-based correlation with AI-driven behavioral clustering. Using a pre-trained model, alerts are grouped by semantic similarity rather than exact matches. This allows the system to unify related activity into single incidents without requiring any custom model training, producing structured, analyst-ready outputs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follows a five-stage pipeline. Alerts are parsed and normalized, then converted into semantic embeddings. They are grouped by time and source context, clustered using density-based algorithms, and finally stitched into incidents. The output includes timelines, summaries, and key infrastructure details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uses a lightweight and practical stack. It relies on a pre-trained embedding model, standard clustering algorithms, and a Streamlit dashboard for visualization. A local embedding cache improves performance and ensures consistent, repeatable results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the system, I used a synthetic dataset with 100,000 alerts across 20 known attack campaigns. These include brute-force attacks, malware command-and-control, scanning activity, and exploitation attempts, providing a realistic test of SOC conditions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are the key takeaway. The system reduced 100,000 alerts into exactly 20 incidents, achieving a 4,010-to-1 reduction ratio. All campaigns were recovered with no splitting or merging errors, and clustering coverage reached 100 percent. This confirms the system’s accuracy and scalability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outputs results through an interactive dashboard. It provides run summaries, incident views, clustering visualizations, and distribution analytics. This allows analysts to move from raw alerts to structured investigations in a single interface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visualization shows over 80,000 alerts grouped into 20 incidents. Each point is an alert. The circular layout is a projection artifact from UMAP and does not indicate clustering issues. The important point is that alerts are grouped correctly by incident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view highlights key distributions, including signatures, severity levels, and source IPs. It provides immediate visibility into attack patterns and adversary infrastructure, supporting faster investigation and prioritization.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key insights. First, AI and security logic integrate effectively at scale. Second, visual layouts like UMAP must be interpreted carefully. Third, local caching significantly improves performance and stability. And fourth, explainability features are critical for analyst trust. The next step is validating the system with real enterprise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impact is clear. Instead of reviewing thousands of alerts, analysts receive a small set of structured incidents. This enables faster triage, better prioritization, and improved efficiency without increasing headcount or changing infrastructure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this system demonstrates that AI-driven clustering can reduce alert fatigue while preserving full attack context. It moves SOC workflows from alert sorting to incident analysis and represents a practical step toward scalable, AI-assisted security operations.</a:t>
            </a:r>
          </a:p>
          <a:p>
            <a:endParaRPr lang="en-US" dirty="0"/>
          </a:p>
          <a:p>
            <a:r>
              <a:rPr lang="en-US" dirty="0"/>
              <a:t>This project matters because it addresses a core risk in cybersecurity operations: missed threats due to alert overload. It reduces analyst workload while preserving full attack context, improving both speed and accuracy of response. It also creates an opportunity to integrate AI into existing SOC workflows without the cost and complexity of building new systems. </a:t>
            </a:r>
            <a:r>
              <a:rPr lang="en-US"/>
              <a:t>The result is a more scalable, efficient, and resilient security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txBody>
          <a:bodyPr/>
          <a:lstStyle/>
          <a:p>
            <a:endParaRPr lang="en-US"/>
          </a:p>
        </p:txBody>
      </p:sp>
      <p:sp>
        <p:nvSpPr>
          <p:cNvPr id="3" name="Shape 1"/>
          <p:cNvSpPr/>
          <p:nvPr/>
        </p:nvSpPr>
        <p:spPr>
          <a:xfrm>
            <a:off x="0" y="0"/>
            <a:ext cx="54864" cy="5143500"/>
          </a:xfrm>
          <a:prstGeom prst="rect">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365760" y="960120"/>
            <a:ext cx="7132320" cy="1463040"/>
          </a:xfrm>
          <a:prstGeom prst="rect">
            <a:avLst/>
          </a:prstGeom>
          <a:noFill/>
          <a:ln/>
        </p:spPr>
        <p:txBody>
          <a:bodyPr wrap="square" rtlCol="0" anchor="ctr"/>
          <a:lstStyle/>
          <a:p>
            <a:pPr marL="0" indent="0">
              <a:lnSpc>
                <a:spcPct val="115000"/>
              </a:lnSpc>
              <a:buNone/>
            </a:pPr>
            <a:r>
              <a:rPr lang="en-US" sz="3800" b="1" dirty="0">
                <a:solidFill>
                  <a:srgbClr val="E8F0F8"/>
                </a:solidFill>
                <a:latin typeface="Calibri" pitchFamily="34" charset="0"/>
                <a:ea typeface="Calibri" pitchFamily="34" charset="-122"/>
                <a:cs typeface="Calibri" pitchFamily="34" charset="-120"/>
              </a:rPr>
              <a:t>AI-Driven Alert Deduplication</a:t>
            </a:r>
            <a:endParaRPr lang="en-US" sz="3800" dirty="0"/>
          </a:p>
          <a:p>
            <a:pPr marL="0" indent="0">
              <a:lnSpc>
                <a:spcPct val="115000"/>
              </a:lnSpc>
              <a:buNone/>
            </a:pPr>
            <a:r>
              <a:rPr lang="en-US" sz="3800" b="1" dirty="0">
                <a:solidFill>
                  <a:srgbClr val="E8F0F8"/>
                </a:solidFill>
                <a:latin typeface="Calibri" pitchFamily="34" charset="0"/>
                <a:ea typeface="Calibri" pitchFamily="34" charset="-122"/>
                <a:cs typeface="Calibri" pitchFamily="34" charset="-120"/>
              </a:rPr>
              <a:t>and Incident Clustering</a:t>
            </a:r>
            <a:endParaRPr lang="en-US" sz="3800" dirty="0"/>
          </a:p>
        </p:txBody>
      </p:sp>
      <p:sp>
        <p:nvSpPr>
          <p:cNvPr id="8" name="Text 6"/>
          <p:cNvSpPr/>
          <p:nvPr/>
        </p:nvSpPr>
        <p:spPr>
          <a:xfrm>
            <a:off x="365760" y="2331720"/>
            <a:ext cx="7132320" cy="502920"/>
          </a:xfrm>
          <a:prstGeom prst="rect">
            <a:avLst/>
          </a:prstGeom>
          <a:noFill/>
          <a:ln/>
        </p:spPr>
        <p:txBody>
          <a:bodyPr wrap="square" rtlCol="0" anchor="ctr"/>
          <a:lstStyle/>
          <a:p>
            <a:pPr marL="0" indent="0">
              <a:buNone/>
            </a:pPr>
            <a:r>
              <a:rPr lang="en-US" sz="3000" dirty="0">
                <a:solidFill>
                  <a:srgbClr val="00D4FF"/>
                </a:solidFill>
                <a:latin typeface="Calibri" pitchFamily="34" charset="0"/>
                <a:ea typeface="Calibri" pitchFamily="34" charset="-122"/>
                <a:cs typeface="Calibri" pitchFamily="34" charset="-120"/>
              </a:rPr>
              <a:t>for SOC Efficiency</a:t>
            </a:r>
            <a:endParaRPr lang="en-US" sz="3000" dirty="0"/>
          </a:p>
        </p:txBody>
      </p:sp>
      <p:sp>
        <p:nvSpPr>
          <p:cNvPr id="9" name="Shape 7"/>
          <p:cNvSpPr/>
          <p:nvPr/>
        </p:nvSpPr>
        <p:spPr>
          <a:xfrm>
            <a:off x="365760" y="2926080"/>
            <a:ext cx="4114800" cy="22860"/>
          </a:xfrm>
          <a:prstGeom prst="rect">
            <a:avLst/>
          </a:prstGeom>
          <a:solidFill>
            <a:srgbClr val="475569"/>
          </a:solidFill>
          <a:ln w="12700">
            <a:solidFill>
              <a:srgbClr val="475569"/>
            </a:solidFill>
            <a:prstDash val="solid"/>
          </a:ln>
        </p:spPr>
        <p:txBody>
          <a:bodyPr/>
          <a:lstStyle/>
          <a:p>
            <a:endParaRPr lang="en-US"/>
          </a:p>
        </p:txBody>
      </p:sp>
      <p:sp>
        <p:nvSpPr>
          <p:cNvPr id="10" name="Text 8"/>
          <p:cNvSpPr/>
          <p:nvPr/>
        </p:nvSpPr>
        <p:spPr>
          <a:xfrm>
            <a:off x="365760" y="3035808"/>
            <a:ext cx="4572000" cy="320040"/>
          </a:xfrm>
          <a:prstGeom prst="rect">
            <a:avLst/>
          </a:prstGeom>
          <a:noFill/>
          <a:ln/>
        </p:spPr>
        <p:txBody>
          <a:bodyPr wrap="square" rtlCol="0" anchor="ctr"/>
          <a:lstStyle/>
          <a:p>
            <a:pPr marL="0" indent="0">
              <a:buNone/>
            </a:pPr>
            <a:r>
              <a:rPr lang="en-US" sz="1400" b="1" dirty="0">
                <a:solidFill>
                  <a:srgbClr val="E8F0F8"/>
                </a:solidFill>
                <a:latin typeface="Calibri" pitchFamily="34" charset="0"/>
                <a:ea typeface="Calibri" pitchFamily="34" charset="-122"/>
                <a:cs typeface="Calibri" pitchFamily="34" charset="-120"/>
              </a:rPr>
              <a:t>Pengfei Zhang</a:t>
            </a:r>
            <a:endParaRPr lang="en-US" sz="1400" dirty="0"/>
          </a:p>
        </p:txBody>
      </p:sp>
      <p:sp>
        <p:nvSpPr>
          <p:cNvPr id="11" name="Text 9"/>
          <p:cNvSpPr/>
          <p:nvPr/>
        </p:nvSpPr>
        <p:spPr>
          <a:xfrm>
            <a:off x="365760" y="3346704"/>
            <a:ext cx="4572000" cy="256032"/>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April 16,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93B"/>
          </a:solidFill>
          <a:ln w="12700">
            <a:solidFill>
              <a:srgbClr val="1E293B"/>
            </a:solidFill>
            <a:prstDash val="solid"/>
          </a:ln>
        </p:spPr>
        <p:txBody>
          <a:bodyPr/>
          <a:lstStyle/>
          <a:p>
            <a:endParaRPr lang="en-US"/>
          </a:p>
        </p:txBody>
      </p:sp>
      <p:sp>
        <p:nvSpPr>
          <p:cNvPr id="4" name="Text 2"/>
          <p:cNvSpPr/>
          <p:nvPr/>
        </p:nvSpPr>
        <p:spPr>
          <a:xfrm>
            <a:off x="365760" y="347472"/>
            <a:ext cx="8229600" cy="502920"/>
          </a:xfrm>
          <a:prstGeom prst="rect">
            <a:avLst/>
          </a:prstGeom>
          <a:noFill/>
          <a:ln/>
        </p:spPr>
        <p:txBody>
          <a:bodyPr wrap="square" rtlCol="0" anchor="ctr"/>
          <a:lstStyle/>
          <a:p>
            <a:pPr marL="0" indent="0">
              <a:buNone/>
            </a:pPr>
            <a:r>
              <a:rPr lang="en-US" sz="2600" b="1" dirty="0">
                <a:solidFill>
                  <a:srgbClr val="E8F0F8"/>
                </a:solidFill>
                <a:latin typeface="Calibri" pitchFamily="34" charset="0"/>
                <a:ea typeface="Calibri" pitchFamily="34" charset="-122"/>
                <a:cs typeface="Calibri" pitchFamily="34" charset="-120"/>
              </a:rPr>
              <a:t>The Problem: Modern SOCs Are Drowning in Alerts</a:t>
            </a:r>
            <a:endParaRPr lang="en-US" sz="2600" dirty="0"/>
          </a:p>
        </p:txBody>
      </p:sp>
      <p:sp>
        <p:nvSpPr>
          <p:cNvPr id="5" name="Shape 3"/>
          <p:cNvSpPr/>
          <p:nvPr/>
        </p:nvSpPr>
        <p:spPr>
          <a:xfrm>
            <a:off x="274320" y="1097280"/>
            <a:ext cx="2834640" cy="3474720"/>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6" name="Shape 4"/>
          <p:cNvSpPr/>
          <p:nvPr/>
        </p:nvSpPr>
        <p:spPr>
          <a:xfrm>
            <a:off x="274320" y="1097280"/>
            <a:ext cx="2834640" cy="64008"/>
          </a:xfrm>
          <a:prstGeom prst="rect">
            <a:avLst/>
          </a:prstGeom>
          <a:solidFill>
            <a:srgbClr val="FF3A5C"/>
          </a:solidFill>
          <a:ln w="12700">
            <a:solidFill>
              <a:srgbClr val="FF3A5C"/>
            </a:solidFill>
            <a:prstDash val="solid"/>
          </a:ln>
        </p:spPr>
        <p:txBody>
          <a:bodyPr/>
          <a:lstStyle/>
          <a:p>
            <a:endParaRPr lang="en-US"/>
          </a:p>
        </p:txBody>
      </p:sp>
      <p:sp>
        <p:nvSpPr>
          <p:cNvPr id="7" name="Text 5"/>
          <p:cNvSpPr/>
          <p:nvPr/>
        </p:nvSpPr>
        <p:spPr>
          <a:xfrm>
            <a:off x="438912" y="1261872"/>
            <a:ext cx="2514600" cy="41148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Alert Overload</a:t>
            </a:r>
            <a:endParaRPr lang="en-US" sz="1500" dirty="0"/>
          </a:p>
        </p:txBody>
      </p:sp>
      <p:sp>
        <p:nvSpPr>
          <p:cNvPr id="8" name="Text 6"/>
          <p:cNvSpPr/>
          <p:nvPr/>
        </p:nvSpPr>
        <p:spPr>
          <a:xfrm>
            <a:off x="438912" y="1719072"/>
            <a:ext cx="2514600" cy="2468880"/>
          </a:xfrm>
          <a:prstGeom prst="rect">
            <a:avLst/>
          </a:prstGeom>
          <a:noFill/>
          <a:ln/>
        </p:spPr>
        <p:txBody>
          <a:bodyPr wrap="square" rtlCol="0" anchor="t"/>
          <a:lstStyle/>
          <a:p>
            <a:pPr marL="0" indent="0">
              <a:buNone/>
            </a:pPr>
            <a:r>
              <a:rPr lang="en-US" sz="1250" dirty="0">
                <a:solidFill>
                  <a:srgbClr val="475569"/>
                </a:solidFill>
                <a:latin typeface="Calibri" pitchFamily="34" charset="0"/>
                <a:ea typeface="Calibri" pitchFamily="34" charset="-122"/>
                <a:cs typeface="Calibri" pitchFamily="34" charset="-120"/>
              </a:rPr>
              <a:t>Suricata IDS generates hundreds of thousands of alerts per day; scans, brute-force, malware callbacks. Those alerts are largely duplicates of the same underlying attack.</a:t>
            </a:r>
            <a:endParaRPr lang="en-US" sz="1250" dirty="0"/>
          </a:p>
        </p:txBody>
      </p:sp>
      <p:sp>
        <p:nvSpPr>
          <p:cNvPr id="9" name="Shape 7"/>
          <p:cNvSpPr/>
          <p:nvPr/>
        </p:nvSpPr>
        <p:spPr>
          <a:xfrm>
            <a:off x="3200400" y="1097280"/>
            <a:ext cx="2834640" cy="3474720"/>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10" name="Shape 8"/>
          <p:cNvSpPr/>
          <p:nvPr/>
        </p:nvSpPr>
        <p:spPr>
          <a:xfrm>
            <a:off x="3200400" y="1097280"/>
            <a:ext cx="2834640" cy="64008"/>
          </a:xfrm>
          <a:prstGeom prst="rect">
            <a:avLst/>
          </a:prstGeom>
          <a:solidFill>
            <a:srgbClr val="FF7C3A"/>
          </a:solidFill>
          <a:ln w="12700">
            <a:solidFill>
              <a:srgbClr val="FF7C3A"/>
            </a:solidFill>
            <a:prstDash val="solid"/>
          </a:ln>
        </p:spPr>
        <p:txBody>
          <a:bodyPr/>
          <a:lstStyle/>
          <a:p>
            <a:endParaRPr lang="en-US"/>
          </a:p>
        </p:txBody>
      </p:sp>
      <p:sp>
        <p:nvSpPr>
          <p:cNvPr id="11" name="Text 9"/>
          <p:cNvSpPr/>
          <p:nvPr/>
        </p:nvSpPr>
        <p:spPr>
          <a:xfrm>
            <a:off x="3364992" y="1261872"/>
            <a:ext cx="2514600" cy="41148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Analyst Fatigue</a:t>
            </a:r>
            <a:endParaRPr lang="en-US" sz="1500" dirty="0"/>
          </a:p>
        </p:txBody>
      </p:sp>
      <p:sp>
        <p:nvSpPr>
          <p:cNvPr id="12" name="Text 10"/>
          <p:cNvSpPr/>
          <p:nvPr/>
        </p:nvSpPr>
        <p:spPr>
          <a:xfrm>
            <a:off x="3364992" y="1719072"/>
            <a:ext cx="2514600" cy="2468880"/>
          </a:xfrm>
          <a:prstGeom prst="rect">
            <a:avLst/>
          </a:prstGeom>
          <a:noFill/>
          <a:ln/>
        </p:spPr>
        <p:txBody>
          <a:bodyPr wrap="square" rtlCol="0" anchor="t"/>
          <a:lstStyle/>
          <a:p>
            <a:pPr marL="0" indent="0">
              <a:buNone/>
            </a:pPr>
            <a:r>
              <a:rPr lang="en-US" sz="1250" dirty="0">
                <a:solidFill>
                  <a:srgbClr val="475569"/>
                </a:solidFill>
                <a:latin typeface="Calibri" pitchFamily="34" charset="0"/>
                <a:ea typeface="Calibri" pitchFamily="34" charset="-122"/>
                <a:cs typeface="Calibri" pitchFamily="34" charset="-120"/>
              </a:rPr>
              <a:t>Repetitive and high-volume alerts cause analysts to lose focus. Critical threats are missed and not because detection failed, but because triage could not keep up.</a:t>
            </a:r>
            <a:endParaRPr lang="en-US" sz="1250" dirty="0"/>
          </a:p>
        </p:txBody>
      </p:sp>
      <p:sp>
        <p:nvSpPr>
          <p:cNvPr id="13" name="Shape 11"/>
          <p:cNvSpPr/>
          <p:nvPr/>
        </p:nvSpPr>
        <p:spPr>
          <a:xfrm>
            <a:off x="6126480" y="1097280"/>
            <a:ext cx="2834640" cy="3474720"/>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14" name="Shape 12"/>
          <p:cNvSpPr/>
          <p:nvPr/>
        </p:nvSpPr>
        <p:spPr>
          <a:xfrm>
            <a:off x="6126480" y="1097280"/>
            <a:ext cx="2834640" cy="64008"/>
          </a:xfrm>
          <a:prstGeom prst="rect">
            <a:avLst/>
          </a:prstGeom>
          <a:solidFill>
            <a:srgbClr val="FFB703"/>
          </a:solidFill>
          <a:ln w="12700">
            <a:solidFill>
              <a:srgbClr val="FFB703"/>
            </a:solidFill>
            <a:prstDash val="solid"/>
          </a:ln>
        </p:spPr>
        <p:txBody>
          <a:bodyPr/>
          <a:lstStyle/>
          <a:p>
            <a:endParaRPr lang="en-US"/>
          </a:p>
        </p:txBody>
      </p:sp>
      <p:sp>
        <p:nvSpPr>
          <p:cNvPr id="15" name="Text 13"/>
          <p:cNvSpPr/>
          <p:nvPr/>
        </p:nvSpPr>
        <p:spPr>
          <a:xfrm>
            <a:off x="6291072" y="1261872"/>
            <a:ext cx="2514600" cy="41148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Fragmented Triage</a:t>
            </a:r>
            <a:endParaRPr lang="en-US" sz="1500" dirty="0"/>
          </a:p>
        </p:txBody>
      </p:sp>
      <p:sp>
        <p:nvSpPr>
          <p:cNvPr id="16" name="Text 14"/>
          <p:cNvSpPr/>
          <p:nvPr/>
        </p:nvSpPr>
        <p:spPr>
          <a:xfrm>
            <a:off x="6291072" y="1719072"/>
            <a:ext cx="2514600" cy="2468880"/>
          </a:xfrm>
          <a:prstGeom prst="rect">
            <a:avLst/>
          </a:prstGeom>
          <a:noFill/>
          <a:ln/>
        </p:spPr>
        <p:txBody>
          <a:bodyPr wrap="square" rtlCol="0" anchor="t"/>
          <a:lstStyle/>
          <a:p>
            <a:pPr marL="0" indent="0">
              <a:buNone/>
            </a:pPr>
            <a:r>
              <a:rPr lang="en-US" sz="1250" dirty="0">
                <a:solidFill>
                  <a:srgbClr val="475569"/>
                </a:solidFill>
                <a:latin typeface="Calibri" pitchFamily="34" charset="0"/>
                <a:ea typeface="Calibri" pitchFamily="34" charset="-122"/>
                <a:cs typeface="Calibri" pitchFamily="34" charset="-120"/>
              </a:rPr>
              <a:t>Static rule-based correlation splits related events across multiple tickets. This slows response time and have a higher change of causing investigations to miss the full attack chain.</a:t>
            </a:r>
            <a:endParaRPr lang="en-US" sz="1250" dirty="0"/>
          </a:p>
        </p:txBody>
      </p:sp>
      <p:sp>
        <p:nvSpPr>
          <p:cNvPr id="17" name="Shape 15"/>
          <p:cNvSpPr/>
          <p:nvPr/>
        </p:nvSpPr>
        <p:spPr>
          <a:xfrm>
            <a:off x="274320" y="4572000"/>
            <a:ext cx="8686800" cy="164592"/>
          </a:xfrm>
          <a:prstGeom prst="rect">
            <a:avLst/>
          </a:prstGeom>
          <a:solidFill>
            <a:srgbClr val="0D1117"/>
          </a:solidFill>
          <a:ln w="12700">
            <a:solidFill>
              <a:srgbClr val="0D1117"/>
            </a:solidFill>
            <a:prstDash val="solid"/>
          </a:ln>
        </p:spPr>
        <p:txBody>
          <a:bodyPr/>
          <a:lstStyle/>
          <a:p>
            <a:endParaRPr lang="en-US" dirty="0"/>
          </a:p>
        </p:txBody>
      </p:sp>
      <p:sp>
        <p:nvSpPr>
          <p:cNvPr id="18" name="Text 16"/>
          <p:cNvSpPr/>
          <p:nvPr/>
        </p:nvSpPr>
        <p:spPr>
          <a:xfrm>
            <a:off x="365760" y="4572000"/>
            <a:ext cx="8412480" cy="164592"/>
          </a:xfrm>
          <a:prstGeom prst="rect">
            <a:avLst/>
          </a:prstGeom>
          <a:noFill/>
          <a:ln/>
        </p:spPr>
        <p:txBody>
          <a:bodyPr wrap="square" rtlCol="0" anchor="ctr"/>
          <a:lstStyle/>
          <a:p>
            <a:pPr marL="0" indent="0" algn="ctr">
              <a:buNone/>
            </a:pPr>
            <a:r>
              <a:rPr lang="en-US" sz="1050" i="1" dirty="0">
                <a:solidFill>
                  <a:srgbClr val="E8F0F8"/>
                </a:solidFill>
                <a:latin typeface="Calibri" pitchFamily="34" charset="0"/>
                <a:ea typeface="Calibri" pitchFamily="34" charset="-122"/>
                <a:cs typeface="Calibri" pitchFamily="34" charset="-120"/>
              </a:rPr>
              <a:t>Note: The goal is not more detection, rather it's converting detection into actionable intelligence.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1B22"/>
          </a:solidFill>
          <a:ln w="12700">
            <a:solidFill>
              <a:srgbClr val="161B22"/>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The Approach</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400" b="1" dirty="0">
                <a:solidFill>
                  <a:srgbClr val="E8F0F8"/>
                </a:solidFill>
                <a:latin typeface="Calibri" pitchFamily="34" charset="0"/>
                <a:ea typeface="Calibri" pitchFamily="34" charset="-122"/>
                <a:cs typeface="Calibri" pitchFamily="34" charset="-120"/>
              </a:rPr>
              <a:t>AI-Assisted Behavioral Clustering: No Custom Training</a:t>
            </a:r>
            <a:endParaRPr lang="en-US" sz="2400" dirty="0"/>
          </a:p>
        </p:txBody>
      </p:sp>
      <p:sp>
        <p:nvSpPr>
          <p:cNvPr id="7" name="Text 5"/>
          <p:cNvSpPr/>
          <p:nvPr/>
        </p:nvSpPr>
        <p:spPr>
          <a:xfrm>
            <a:off x="536882" y="1097281"/>
            <a:ext cx="4995237" cy="3389810"/>
          </a:xfrm>
          <a:prstGeom prst="rect">
            <a:avLst/>
          </a:prstGeom>
          <a:noFill/>
          <a:ln/>
        </p:spPr>
        <p:txBody>
          <a:bodyPr wrap="square" rtlCol="0" anchor="ctr"/>
          <a:lstStyle/>
          <a:p>
            <a:pPr marL="171450" indent="-171450">
              <a:buFont typeface="Arial" panose="020B0604020202020204" pitchFamily="34" charset="0"/>
              <a:buChar char="•"/>
            </a:pPr>
            <a:r>
              <a:rPr lang="en-US" sz="1200" b="1" dirty="0">
                <a:solidFill>
                  <a:srgbClr val="92D050"/>
                </a:solidFill>
                <a:latin typeface="Calibri" pitchFamily="34" charset="0"/>
                <a:ea typeface="Calibri" pitchFamily="34" charset="-122"/>
                <a:cs typeface="Calibri" pitchFamily="34" charset="-120"/>
              </a:rPr>
              <a:t>Replaces: </a:t>
            </a:r>
            <a:r>
              <a:rPr lang="en-US" sz="1200" dirty="0">
                <a:solidFill>
                  <a:srgbClr val="E8F0F8"/>
                </a:solidFill>
                <a:latin typeface="Calibri" pitchFamily="34" charset="0"/>
                <a:ea typeface="Calibri" pitchFamily="34" charset="-122"/>
                <a:cs typeface="Calibri" pitchFamily="34" charset="-120"/>
              </a:rPr>
              <a:t>Static rule-based correlation that splits or merges related events incorrectly</a:t>
            </a:r>
          </a:p>
          <a:p>
            <a:pPr marL="171450" indent="-171450">
              <a:buFont typeface="Arial" panose="020B0604020202020204" pitchFamily="34" charset="0"/>
              <a:buChar char="•"/>
            </a:pPr>
            <a:endParaRPr lang="en-US" sz="1200" dirty="0">
              <a:solidFill>
                <a:srgbClr val="E8F0F8"/>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n-US" sz="1200" b="1" dirty="0">
                <a:solidFill>
                  <a:srgbClr val="92D050"/>
                </a:solidFill>
                <a:latin typeface="Calibri" pitchFamily="34" charset="0"/>
                <a:ea typeface="Calibri" pitchFamily="34" charset="-122"/>
                <a:cs typeface="Calibri" pitchFamily="34" charset="-120"/>
              </a:rPr>
              <a:t>Uses: </a:t>
            </a:r>
            <a:r>
              <a:rPr lang="en-US" sz="1200" dirty="0">
                <a:solidFill>
                  <a:srgbClr val="E8F0F8"/>
                </a:solidFill>
                <a:latin typeface="Calibri" pitchFamily="34" charset="0"/>
                <a:ea typeface="Calibri" pitchFamily="34" charset="-122"/>
                <a:cs typeface="Calibri" pitchFamily="34" charset="-120"/>
              </a:rPr>
              <a:t>Pre-trained MiniLM-L6-v2 sentence transformer: no custom model training required</a:t>
            </a:r>
          </a:p>
          <a:p>
            <a:pPr marL="171450" indent="-171450">
              <a:buFont typeface="Arial" panose="020B0604020202020204" pitchFamily="34" charset="0"/>
              <a:buChar char="•"/>
            </a:pPr>
            <a:endParaRPr lang="en-US" sz="1200" dirty="0">
              <a:solidFill>
                <a:srgbClr val="E8F0F8"/>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n-US" sz="1200" b="1" dirty="0">
                <a:solidFill>
                  <a:srgbClr val="92D050"/>
                </a:solidFill>
                <a:latin typeface="Calibri" pitchFamily="34" charset="0"/>
                <a:ea typeface="Calibri" pitchFamily="34" charset="-122"/>
                <a:cs typeface="Calibri" pitchFamily="34" charset="-120"/>
              </a:rPr>
              <a:t>Groups: </a:t>
            </a:r>
            <a:r>
              <a:rPr lang="en-US" sz="1200" dirty="0">
                <a:solidFill>
                  <a:srgbClr val="E8F0F8"/>
                </a:solidFill>
                <a:latin typeface="Calibri" pitchFamily="34" charset="0"/>
                <a:ea typeface="Calibri" pitchFamily="34" charset="-122"/>
                <a:cs typeface="Calibri" pitchFamily="34" charset="-120"/>
              </a:rPr>
              <a:t>Alerts by semantic similarity: signature family, protocol, severity, and port context</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solidFill>
                  <a:srgbClr val="92D050"/>
                </a:solidFill>
                <a:latin typeface="Calibri" pitchFamily="34" charset="0"/>
                <a:ea typeface="Calibri" pitchFamily="34" charset="-122"/>
                <a:cs typeface="Calibri" pitchFamily="34" charset="-120"/>
              </a:rPr>
              <a:t>Supports: </a:t>
            </a:r>
            <a:r>
              <a:rPr lang="en-US" sz="1200" dirty="0">
                <a:solidFill>
                  <a:srgbClr val="E8F0F8"/>
                </a:solidFill>
                <a:latin typeface="Calibri" pitchFamily="34" charset="0"/>
                <a:ea typeface="Calibri" pitchFamily="34" charset="-122"/>
                <a:cs typeface="Calibri" pitchFamily="34" charset="-120"/>
              </a:rPr>
              <a:t>DBSCAN, Hierarchical, and OPTICS clustering algorithms on AI-generated embeddings</a:t>
            </a:r>
          </a:p>
          <a:p>
            <a:pPr marL="171450" indent="-171450">
              <a:buFont typeface="Arial" panose="020B0604020202020204" pitchFamily="34" charset="0"/>
              <a:buChar char="•"/>
            </a:pPr>
            <a:endParaRPr lang="en-US" sz="1200" dirty="0">
              <a:solidFill>
                <a:srgbClr val="E8F0F8"/>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n-US" sz="1200" b="1" dirty="0">
                <a:solidFill>
                  <a:srgbClr val="92D050"/>
                </a:solidFill>
                <a:latin typeface="Calibri" pitchFamily="34" charset="0"/>
                <a:ea typeface="Calibri" pitchFamily="34" charset="-122"/>
                <a:cs typeface="Calibri" pitchFamily="34" charset="-120"/>
              </a:rPr>
              <a:t>Delivers: </a:t>
            </a:r>
            <a:r>
              <a:rPr lang="en-US" sz="1200" dirty="0">
                <a:solidFill>
                  <a:srgbClr val="E8F0F8"/>
                </a:solidFill>
                <a:latin typeface="Calibri" pitchFamily="34" charset="0"/>
                <a:ea typeface="Calibri" pitchFamily="34" charset="-122"/>
                <a:cs typeface="Calibri" pitchFamily="34" charset="-120"/>
              </a:rPr>
              <a:t>Analyst-ready incidents with timelines, summaries, infrastructure context, and visualizations</a:t>
            </a:r>
            <a:endParaRPr lang="en-US" sz="1200" dirty="0"/>
          </a:p>
          <a:p>
            <a:endParaRPr lang="en-US" sz="1200" dirty="0"/>
          </a:p>
          <a:p>
            <a:endParaRPr lang="en-US" sz="1200" dirty="0"/>
          </a:p>
          <a:p>
            <a:pPr marL="0" indent="0">
              <a:buNone/>
            </a:pPr>
            <a:endParaRPr lang="en-US" sz="1200" dirty="0"/>
          </a:p>
        </p:txBody>
      </p:sp>
      <p:sp>
        <p:nvSpPr>
          <p:cNvPr id="20" name="Shape 18"/>
          <p:cNvSpPr/>
          <p:nvPr/>
        </p:nvSpPr>
        <p:spPr>
          <a:xfrm>
            <a:off x="5669280" y="1005840"/>
            <a:ext cx="3200400" cy="3657600"/>
          </a:xfrm>
          <a:prstGeom prst="rect">
            <a:avLst/>
          </a:prstGeom>
          <a:solidFill>
            <a:srgbClr val="1C2333"/>
          </a:solidFill>
          <a:ln w="12700">
            <a:solidFill>
              <a:srgbClr val="2D3748"/>
            </a:solidFill>
            <a:prstDash val="solid"/>
          </a:ln>
          <a:effectLst>
            <a:outerShdw blurRad="127000" dist="38100" dir="8100000" algn="bl" rotWithShape="0">
              <a:srgbClr val="000000">
                <a:alpha val="25000"/>
              </a:srgbClr>
            </a:outerShdw>
          </a:effectLst>
        </p:spPr>
        <p:txBody>
          <a:bodyPr/>
          <a:lstStyle/>
          <a:p>
            <a:endParaRPr lang="en-US"/>
          </a:p>
        </p:txBody>
      </p:sp>
      <p:sp>
        <p:nvSpPr>
          <p:cNvPr id="21" name="Text 19"/>
          <p:cNvSpPr/>
          <p:nvPr/>
        </p:nvSpPr>
        <p:spPr>
          <a:xfrm>
            <a:off x="5760720" y="1097280"/>
            <a:ext cx="3017520" cy="292608"/>
          </a:xfrm>
          <a:prstGeom prst="rect">
            <a:avLst/>
          </a:prstGeom>
          <a:noFill/>
          <a:ln/>
        </p:spPr>
        <p:txBody>
          <a:bodyPr wrap="square" rtlCol="0" anchor="ctr"/>
          <a:lstStyle/>
          <a:p>
            <a:pPr marL="0" indent="0" algn="ctr">
              <a:buNone/>
            </a:pPr>
            <a:r>
              <a:rPr lang="en-US" sz="950" b="1" kern="0" spc="100" dirty="0">
                <a:solidFill>
                  <a:srgbClr val="00D4FF"/>
                </a:solidFill>
                <a:latin typeface="Calibri" pitchFamily="34" charset="0"/>
                <a:ea typeface="Calibri" pitchFamily="34" charset="-122"/>
                <a:cs typeface="Calibri" pitchFamily="34" charset="-120"/>
              </a:rPr>
              <a:t>RULE-BASED  vs  AI CLUSTERING</a:t>
            </a:r>
            <a:endParaRPr lang="en-US" sz="950" dirty="0"/>
          </a:p>
        </p:txBody>
      </p:sp>
      <p:sp>
        <p:nvSpPr>
          <p:cNvPr id="22" name="Shape 20"/>
          <p:cNvSpPr/>
          <p:nvPr/>
        </p:nvSpPr>
        <p:spPr>
          <a:xfrm>
            <a:off x="5715000" y="1426464"/>
            <a:ext cx="1508760" cy="384048"/>
          </a:xfrm>
          <a:prstGeom prst="rect">
            <a:avLst/>
          </a:prstGeom>
          <a:solidFill>
            <a:srgbClr val="1A1F2E"/>
          </a:solidFill>
          <a:ln w="6350">
            <a:solidFill>
              <a:srgbClr val="2D3748"/>
            </a:solidFill>
            <a:prstDash val="solid"/>
          </a:ln>
        </p:spPr>
        <p:txBody>
          <a:bodyPr/>
          <a:lstStyle/>
          <a:p>
            <a:endParaRPr lang="en-US"/>
          </a:p>
        </p:txBody>
      </p:sp>
      <p:sp>
        <p:nvSpPr>
          <p:cNvPr id="23" name="Shape 21"/>
          <p:cNvSpPr/>
          <p:nvPr/>
        </p:nvSpPr>
        <p:spPr>
          <a:xfrm>
            <a:off x="7223760" y="1426464"/>
            <a:ext cx="1600200" cy="384048"/>
          </a:xfrm>
          <a:prstGeom prst="rect">
            <a:avLst/>
          </a:prstGeom>
          <a:solidFill>
            <a:srgbClr val="0D2A1A"/>
          </a:solidFill>
          <a:ln w="6350">
            <a:solidFill>
              <a:srgbClr val="2D3748"/>
            </a:solidFill>
            <a:prstDash val="solid"/>
          </a:ln>
        </p:spPr>
        <p:txBody>
          <a:bodyPr/>
          <a:lstStyle/>
          <a:p>
            <a:endParaRPr lang="en-US"/>
          </a:p>
        </p:txBody>
      </p:sp>
      <p:sp>
        <p:nvSpPr>
          <p:cNvPr id="24" name="Text 22"/>
          <p:cNvSpPr/>
          <p:nvPr/>
        </p:nvSpPr>
        <p:spPr>
          <a:xfrm>
            <a:off x="5760720" y="1463040"/>
            <a:ext cx="1417320" cy="310896"/>
          </a:xfrm>
          <a:prstGeom prst="rect">
            <a:avLst/>
          </a:prstGeom>
          <a:noFill/>
          <a:ln/>
        </p:spPr>
        <p:txBody>
          <a:bodyPr wrap="square" rtlCol="0" anchor="ctr"/>
          <a:lstStyle/>
          <a:p>
            <a:pPr marL="0" indent="0">
              <a:buNone/>
            </a:pPr>
            <a:r>
              <a:rPr lang="en-US" sz="1000" b="1" dirty="0">
                <a:solidFill>
                  <a:srgbClr val="94A3B8"/>
                </a:solidFill>
                <a:latin typeface="Calibri" pitchFamily="34" charset="0"/>
                <a:ea typeface="Calibri" pitchFamily="34" charset="-122"/>
                <a:cs typeface="Calibri" pitchFamily="34" charset="-120"/>
              </a:rPr>
              <a:t>Legacy Approach</a:t>
            </a:r>
            <a:endParaRPr lang="en-US" sz="1000" dirty="0"/>
          </a:p>
        </p:txBody>
      </p:sp>
      <p:sp>
        <p:nvSpPr>
          <p:cNvPr id="25" name="Text 23"/>
          <p:cNvSpPr/>
          <p:nvPr/>
        </p:nvSpPr>
        <p:spPr>
          <a:xfrm>
            <a:off x="7251192" y="1463040"/>
            <a:ext cx="1508760" cy="310896"/>
          </a:xfrm>
          <a:prstGeom prst="rect">
            <a:avLst/>
          </a:prstGeom>
          <a:noFill/>
          <a:ln/>
        </p:spPr>
        <p:txBody>
          <a:bodyPr wrap="square" rtlCol="0" anchor="ctr"/>
          <a:lstStyle/>
          <a:p>
            <a:pPr marL="0" indent="0">
              <a:buNone/>
            </a:pPr>
            <a:r>
              <a:rPr lang="en-US" sz="1000" dirty="0">
                <a:solidFill>
                  <a:srgbClr val="00E87A"/>
                </a:solidFill>
                <a:latin typeface="Calibri" pitchFamily="34" charset="0"/>
                <a:ea typeface="Calibri" pitchFamily="34" charset="-122"/>
                <a:cs typeface="Calibri" pitchFamily="34" charset="-120"/>
              </a:rPr>
              <a:t>AI Based</a:t>
            </a:r>
            <a:endParaRPr lang="en-US" sz="1000" dirty="0"/>
          </a:p>
        </p:txBody>
      </p:sp>
      <p:sp>
        <p:nvSpPr>
          <p:cNvPr id="26" name="Shape 24"/>
          <p:cNvSpPr/>
          <p:nvPr/>
        </p:nvSpPr>
        <p:spPr>
          <a:xfrm>
            <a:off x="5715000" y="1883664"/>
            <a:ext cx="1508760" cy="384048"/>
          </a:xfrm>
          <a:prstGeom prst="rect">
            <a:avLst/>
          </a:prstGeom>
          <a:solidFill>
            <a:srgbClr val="161B22"/>
          </a:solidFill>
          <a:ln w="6350">
            <a:solidFill>
              <a:srgbClr val="2D3748"/>
            </a:solidFill>
            <a:prstDash val="solid"/>
          </a:ln>
        </p:spPr>
        <p:txBody>
          <a:bodyPr/>
          <a:lstStyle/>
          <a:p>
            <a:endParaRPr lang="en-US"/>
          </a:p>
        </p:txBody>
      </p:sp>
      <p:sp>
        <p:nvSpPr>
          <p:cNvPr id="27" name="Shape 25"/>
          <p:cNvSpPr/>
          <p:nvPr/>
        </p:nvSpPr>
        <p:spPr>
          <a:xfrm>
            <a:off x="7223760" y="1883664"/>
            <a:ext cx="1600200" cy="384048"/>
          </a:xfrm>
          <a:prstGeom prst="rect">
            <a:avLst/>
          </a:prstGeom>
          <a:solidFill>
            <a:srgbClr val="161B22"/>
          </a:solidFill>
          <a:ln w="6350">
            <a:solidFill>
              <a:srgbClr val="2D3748"/>
            </a:solidFill>
            <a:prstDash val="solid"/>
          </a:ln>
        </p:spPr>
        <p:txBody>
          <a:bodyPr/>
          <a:lstStyle/>
          <a:p>
            <a:endParaRPr lang="en-US"/>
          </a:p>
        </p:txBody>
      </p:sp>
      <p:sp>
        <p:nvSpPr>
          <p:cNvPr id="28" name="Text 26"/>
          <p:cNvSpPr/>
          <p:nvPr/>
        </p:nvSpPr>
        <p:spPr>
          <a:xfrm>
            <a:off x="5760720" y="1920240"/>
            <a:ext cx="1417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Static threshold rules</a:t>
            </a:r>
            <a:endParaRPr lang="en-US" sz="1000" dirty="0"/>
          </a:p>
        </p:txBody>
      </p:sp>
      <p:sp>
        <p:nvSpPr>
          <p:cNvPr id="29" name="Text 27"/>
          <p:cNvSpPr/>
          <p:nvPr/>
        </p:nvSpPr>
        <p:spPr>
          <a:xfrm>
            <a:off x="7251192" y="1920240"/>
            <a:ext cx="1508760" cy="310896"/>
          </a:xfrm>
          <a:prstGeom prst="rect">
            <a:avLst/>
          </a:prstGeom>
          <a:noFill/>
          <a:ln/>
        </p:spPr>
        <p:txBody>
          <a:bodyPr wrap="square" rtlCol="0" anchor="ctr"/>
          <a:lstStyle/>
          <a:p>
            <a:pPr marL="0" indent="0">
              <a:buNone/>
            </a:pPr>
            <a:r>
              <a:rPr lang="en-US" sz="1000" dirty="0">
                <a:solidFill>
                  <a:srgbClr val="00E87A"/>
                </a:solidFill>
                <a:latin typeface="Calibri" pitchFamily="34" charset="0"/>
                <a:ea typeface="Calibri" pitchFamily="34" charset="-122"/>
                <a:cs typeface="Calibri" pitchFamily="34" charset="-120"/>
              </a:rPr>
              <a:t>Semantic similarity</a:t>
            </a:r>
            <a:endParaRPr lang="en-US" sz="1000" dirty="0"/>
          </a:p>
        </p:txBody>
      </p:sp>
      <p:sp>
        <p:nvSpPr>
          <p:cNvPr id="30" name="Shape 28"/>
          <p:cNvSpPr/>
          <p:nvPr/>
        </p:nvSpPr>
        <p:spPr>
          <a:xfrm>
            <a:off x="5715000" y="2340864"/>
            <a:ext cx="1508760" cy="384048"/>
          </a:xfrm>
          <a:prstGeom prst="rect">
            <a:avLst/>
          </a:prstGeom>
          <a:solidFill>
            <a:srgbClr val="1A1F2E"/>
          </a:solidFill>
          <a:ln w="6350">
            <a:solidFill>
              <a:srgbClr val="2D3748"/>
            </a:solidFill>
            <a:prstDash val="solid"/>
          </a:ln>
        </p:spPr>
        <p:txBody>
          <a:bodyPr/>
          <a:lstStyle/>
          <a:p>
            <a:endParaRPr lang="en-US"/>
          </a:p>
        </p:txBody>
      </p:sp>
      <p:sp>
        <p:nvSpPr>
          <p:cNvPr id="31" name="Shape 29"/>
          <p:cNvSpPr/>
          <p:nvPr/>
        </p:nvSpPr>
        <p:spPr>
          <a:xfrm>
            <a:off x="7223760" y="2340864"/>
            <a:ext cx="1600200" cy="384048"/>
          </a:xfrm>
          <a:prstGeom prst="rect">
            <a:avLst/>
          </a:prstGeom>
          <a:solidFill>
            <a:srgbClr val="0D2A1A"/>
          </a:solidFill>
          <a:ln w="6350">
            <a:solidFill>
              <a:srgbClr val="2D3748"/>
            </a:solidFill>
            <a:prstDash val="solid"/>
          </a:ln>
        </p:spPr>
        <p:txBody>
          <a:bodyPr/>
          <a:lstStyle/>
          <a:p>
            <a:endParaRPr lang="en-US"/>
          </a:p>
        </p:txBody>
      </p:sp>
      <p:sp>
        <p:nvSpPr>
          <p:cNvPr id="32" name="Text 30"/>
          <p:cNvSpPr/>
          <p:nvPr/>
        </p:nvSpPr>
        <p:spPr>
          <a:xfrm>
            <a:off x="5760720" y="2377440"/>
            <a:ext cx="1417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Manual signature updates</a:t>
            </a:r>
            <a:endParaRPr lang="en-US" sz="1000" dirty="0"/>
          </a:p>
        </p:txBody>
      </p:sp>
      <p:sp>
        <p:nvSpPr>
          <p:cNvPr id="33" name="Text 31"/>
          <p:cNvSpPr/>
          <p:nvPr/>
        </p:nvSpPr>
        <p:spPr>
          <a:xfrm>
            <a:off x="7251192" y="2377440"/>
            <a:ext cx="1508760" cy="310896"/>
          </a:xfrm>
          <a:prstGeom prst="rect">
            <a:avLst/>
          </a:prstGeom>
          <a:noFill/>
          <a:ln/>
        </p:spPr>
        <p:txBody>
          <a:bodyPr wrap="square" rtlCol="0" anchor="ctr"/>
          <a:lstStyle/>
          <a:p>
            <a:pPr marL="0" indent="0">
              <a:buNone/>
            </a:pPr>
            <a:r>
              <a:rPr lang="en-US" sz="1000" dirty="0">
                <a:solidFill>
                  <a:srgbClr val="00E87A"/>
                </a:solidFill>
                <a:latin typeface="Calibri" pitchFamily="34" charset="0"/>
                <a:ea typeface="Calibri" pitchFamily="34" charset="-122"/>
                <a:cs typeface="Calibri" pitchFamily="34" charset="-120"/>
              </a:rPr>
              <a:t>Zero model retraining</a:t>
            </a:r>
            <a:endParaRPr lang="en-US" sz="1000" dirty="0"/>
          </a:p>
        </p:txBody>
      </p:sp>
      <p:sp>
        <p:nvSpPr>
          <p:cNvPr id="34" name="Shape 32"/>
          <p:cNvSpPr/>
          <p:nvPr/>
        </p:nvSpPr>
        <p:spPr>
          <a:xfrm>
            <a:off x="5715000" y="2798064"/>
            <a:ext cx="1508760" cy="384048"/>
          </a:xfrm>
          <a:prstGeom prst="rect">
            <a:avLst/>
          </a:prstGeom>
          <a:solidFill>
            <a:srgbClr val="161B22"/>
          </a:solidFill>
          <a:ln w="6350">
            <a:solidFill>
              <a:srgbClr val="2D3748"/>
            </a:solidFill>
            <a:prstDash val="solid"/>
          </a:ln>
        </p:spPr>
        <p:txBody>
          <a:bodyPr/>
          <a:lstStyle/>
          <a:p>
            <a:endParaRPr lang="en-US"/>
          </a:p>
        </p:txBody>
      </p:sp>
      <p:sp>
        <p:nvSpPr>
          <p:cNvPr id="35" name="Shape 33"/>
          <p:cNvSpPr/>
          <p:nvPr/>
        </p:nvSpPr>
        <p:spPr>
          <a:xfrm>
            <a:off x="7223760" y="2798064"/>
            <a:ext cx="1600200" cy="384048"/>
          </a:xfrm>
          <a:prstGeom prst="rect">
            <a:avLst/>
          </a:prstGeom>
          <a:solidFill>
            <a:srgbClr val="161B22"/>
          </a:solidFill>
          <a:ln w="6350">
            <a:solidFill>
              <a:srgbClr val="2D3748"/>
            </a:solidFill>
            <a:prstDash val="solid"/>
          </a:ln>
        </p:spPr>
        <p:txBody>
          <a:bodyPr/>
          <a:lstStyle/>
          <a:p>
            <a:endParaRPr lang="en-US"/>
          </a:p>
        </p:txBody>
      </p:sp>
      <p:sp>
        <p:nvSpPr>
          <p:cNvPr id="36" name="Text 34"/>
          <p:cNvSpPr/>
          <p:nvPr/>
        </p:nvSpPr>
        <p:spPr>
          <a:xfrm>
            <a:off x="5760720" y="2834640"/>
            <a:ext cx="1417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Fragmented alert tickets</a:t>
            </a:r>
            <a:endParaRPr lang="en-US" sz="1000" dirty="0"/>
          </a:p>
        </p:txBody>
      </p:sp>
      <p:sp>
        <p:nvSpPr>
          <p:cNvPr id="37" name="Text 35"/>
          <p:cNvSpPr/>
          <p:nvPr/>
        </p:nvSpPr>
        <p:spPr>
          <a:xfrm>
            <a:off x="7251192" y="2834640"/>
            <a:ext cx="1508760" cy="310896"/>
          </a:xfrm>
          <a:prstGeom prst="rect">
            <a:avLst/>
          </a:prstGeom>
          <a:noFill/>
          <a:ln/>
        </p:spPr>
        <p:txBody>
          <a:bodyPr wrap="square" rtlCol="0" anchor="ctr"/>
          <a:lstStyle/>
          <a:p>
            <a:pPr marL="0" indent="0">
              <a:buNone/>
            </a:pPr>
            <a:r>
              <a:rPr lang="en-US" sz="1000" dirty="0">
                <a:solidFill>
                  <a:srgbClr val="00E87A"/>
                </a:solidFill>
                <a:latin typeface="Calibri" pitchFamily="34" charset="0"/>
                <a:ea typeface="Calibri" pitchFamily="34" charset="-122"/>
                <a:cs typeface="Calibri" pitchFamily="34" charset="-120"/>
              </a:rPr>
              <a:t>Unified incident cases</a:t>
            </a:r>
            <a:endParaRPr lang="en-US" sz="1000" dirty="0"/>
          </a:p>
        </p:txBody>
      </p:sp>
      <p:sp>
        <p:nvSpPr>
          <p:cNvPr id="38" name="Shape 36"/>
          <p:cNvSpPr/>
          <p:nvPr/>
        </p:nvSpPr>
        <p:spPr>
          <a:xfrm>
            <a:off x="5715000" y="3255264"/>
            <a:ext cx="1508760" cy="384048"/>
          </a:xfrm>
          <a:prstGeom prst="rect">
            <a:avLst/>
          </a:prstGeom>
          <a:solidFill>
            <a:srgbClr val="1A1F2E"/>
          </a:solidFill>
          <a:ln w="6350">
            <a:solidFill>
              <a:srgbClr val="2D3748"/>
            </a:solidFill>
            <a:prstDash val="solid"/>
          </a:ln>
        </p:spPr>
        <p:txBody>
          <a:bodyPr/>
          <a:lstStyle/>
          <a:p>
            <a:endParaRPr lang="en-US"/>
          </a:p>
        </p:txBody>
      </p:sp>
      <p:sp>
        <p:nvSpPr>
          <p:cNvPr id="39" name="Shape 37"/>
          <p:cNvSpPr/>
          <p:nvPr/>
        </p:nvSpPr>
        <p:spPr>
          <a:xfrm>
            <a:off x="7223760" y="3255264"/>
            <a:ext cx="1600200" cy="384048"/>
          </a:xfrm>
          <a:prstGeom prst="rect">
            <a:avLst/>
          </a:prstGeom>
          <a:solidFill>
            <a:srgbClr val="0D2A1A"/>
          </a:solidFill>
          <a:ln w="6350">
            <a:solidFill>
              <a:srgbClr val="2D3748"/>
            </a:solidFill>
            <a:prstDash val="solid"/>
          </a:ln>
        </p:spPr>
        <p:txBody>
          <a:bodyPr/>
          <a:lstStyle/>
          <a:p>
            <a:endParaRPr lang="en-US"/>
          </a:p>
        </p:txBody>
      </p:sp>
      <p:sp>
        <p:nvSpPr>
          <p:cNvPr id="40" name="Text 38"/>
          <p:cNvSpPr/>
          <p:nvPr/>
        </p:nvSpPr>
        <p:spPr>
          <a:xfrm>
            <a:off x="5760720" y="3291840"/>
            <a:ext cx="1417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Alert-level view</a:t>
            </a:r>
            <a:endParaRPr lang="en-US" sz="1000" dirty="0"/>
          </a:p>
        </p:txBody>
      </p:sp>
      <p:sp>
        <p:nvSpPr>
          <p:cNvPr id="41" name="Text 39"/>
          <p:cNvSpPr/>
          <p:nvPr/>
        </p:nvSpPr>
        <p:spPr>
          <a:xfrm>
            <a:off x="7251192" y="3291840"/>
            <a:ext cx="1508760" cy="310896"/>
          </a:xfrm>
          <a:prstGeom prst="rect">
            <a:avLst/>
          </a:prstGeom>
          <a:noFill/>
          <a:ln/>
        </p:spPr>
        <p:txBody>
          <a:bodyPr wrap="square" rtlCol="0" anchor="ctr"/>
          <a:lstStyle/>
          <a:p>
            <a:pPr marL="0" indent="0">
              <a:buNone/>
            </a:pPr>
            <a:r>
              <a:rPr lang="en-US" sz="1000" dirty="0">
                <a:solidFill>
                  <a:srgbClr val="00E87A"/>
                </a:solidFill>
                <a:latin typeface="Calibri" pitchFamily="34" charset="0"/>
                <a:ea typeface="Calibri" pitchFamily="34" charset="-122"/>
                <a:cs typeface="Calibri" pitchFamily="34" charset="-120"/>
              </a:rPr>
              <a:t>Attack-chain narrative</a:t>
            </a:r>
            <a:endParaRPr lang="en-US" sz="1000" dirty="0"/>
          </a:p>
        </p:txBody>
      </p:sp>
      <p:sp>
        <p:nvSpPr>
          <p:cNvPr id="42" name="Shape 40"/>
          <p:cNvSpPr/>
          <p:nvPr/>
        </p:nvSpPr>
        <p:spPr>
          <a:xfrm>
            <a:off x="5715000" y="3712464"/>
            <a:ext cx="1508760" cy="384048"/>
          </a:xfrm>
          <a:prstGeom prst="rect">
            <a:avLst/>
          </a:prstGeom>
          <a:solidFill>
            <a:srgbClr val="161B22"/>
          </a:solidFill>
          <a:ln w="6350">
            <a:solidFill>
              <a:srgbClr val="2D3748"/>
            </a:solidFill>
            <a:prstDash val="solid"/>
          </a:ln>
        </p:spPr>
        <p:txBody>
          <a:bodyPr/>
          <a:lstStyle/>
          <a:p>
            <a:endParaRPr lang="en-US"/>
          </a:p>
        </p:txBody>
      </p:sp>
      <p:sp>
        <p:nvSpPr>
          <p:cNvPr id="43" name="Shape 41"/>
          <p:cNvSpPr/>
          <p:nvPr/>
        </p:nvSpPr>
        <p:spPr>
          <a:xfrm>
            <a:off x="7223760" y="3712464"/>
            <a:ext cx="1600200" cy="384048"/>
          </a:xfrm>
          <a:prstGeom prst="rect">
            <a:avLst/>
          </a:prstGeom>
          <a:solidFill>
            <a:srgbClr val="161B22"/>
          </a:solidFill>
          <a:ln w="6350">
            <a:solidFill>
              <a:srgbClr val="2D3748"/>
            </a:solidFill>
            <a:prstDash val="solid"/>
          </a:ln>
        </p:spPr>
        <p:txBody>
          <a:bodyPr/>
          <a:lstStyle/>
          <a:p>
            <a:endParaRPr lang="en-US"/>
          </a:p>
        </p:txBody>
      </p:sp>
      <p:sp>
        <p:nvSpPr>
          <p:cNvPr id="44" name="Text 42"/>
          <p:cNvSpPr/>
          <p:nvPr/>
        </p:nvSpPr>
        <p:spPr>
          <a:xfrm>
            <a:off x="5760720" y="3749040"/>
            <a:ext cx="1417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High noise ratio</a:t>
            </a:r>
            <a:endParaRPr lang="en-US" sz="1000" dirty="0"/>
          </a:p>
        </p:txBody>
      </p:sp>
      <p:sp>
        <p:nvSpPr>
          <p:cNvPr id="45" name="Text 43"/>
          <p:cNvSpPr/>
          <p:nvPr/>
        </p:nvSpPr>
        <p:spPr>
          <a:xfrm>
            <a:off x="7251192" y="3749040"/>
            <a:ext cx="1508760" cy="310896"/>
          </a:xfrm>
          <a:prstGeom prst="rect">
            <a:avLst/>
          </a:prstGeom>
          <a:noFill/>
          <a:ln/>
        </p:spPr>
        <p:txBody>
          <a:bodyPr wrap="square" rtlCol="0" anchor="ctr"/>
          <a:lstStyle/>
          <a:p>
            <a:pPr marL="0" indent="0">
              <a:buNone/>
            </a:pPr>
            <a:r>
              <a:rPr lang="en-US" sz="1000" dirty="0">
                <a:solidFill>
                  <a:srgbClr val="00E87A"/>
                </a:solidFill>
                <a:latin typeface="Calibri" pitchFamily="34" charset="0"/>
                <a:ea typeface="Calibri" pitchFamily="34" charset="-122"/>
                <a:cs typeface="Calibri" pitchFamily="34" charset="-120"/>
              </a:rPr>
              <a:t>Noise auto-isolated</a:t>
            </a:r>
            <a:endParaRPr lang="en-US" sz="1000" dirty="0"/>
          </a:p>
        </p:txBody>
      </p:sp>
      <p:sp>
        <p:nvSpPr>
          <p:cNvPr id="46" name="Shape 44"/>
          <p:cNvSpPr/>
          <p:nvPr/>
        </p:nvSpPr>
        <p:spPr>
          <a:xfrm>
            <a:off x="0" y="4800600"/>
            <a:ext cx="9144000" cy="342900"/>
          </a:xfrm>
          <a:prstGeom prst="rect">
            <a:avLst/>
          </a:prstGeom>
          <a:solidFill>
            <a:srgbClr val="0A0D12"/>
          </a:solidFill>
          <a:ln w="12700">
            <a:solidFill>
              <a:srgbClr val="0A0D12"/>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93B"/>
          </a:solidFill>
          <a:ln w="12700">
            <a:solidFill>
              <a:srgbClr val="1E293B"/>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METHODOLOGY</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600" b="1" dirty="0">
                <a:solidFill>
                  <a:srgbClr val="E8F0F8"/>
                </a:solidFill>
                <a:latin typeface="Calibri" pitchFamily="34" charset="0"/>
                <a:ea typeface="Calibri" pitchFamily="34" charset="-122"/>
                <a:cs typeface="Calibri" pitchFamily="34" charset="-120"/>
              </a:rPr>
              <a:t>Five-Stage Pipeline</a:t>
            </a:r>
            <a:endParaRPr lang="en-US" sz="2600" dirty="0"/>
          </a:p>
        </p:txBody>
      </p:sp>
      <p:sp>
        <p:nvSpPr>
          <p:cNvPr id="5" name="Shape 3"/>
          <p:cNvSpPr/>
          <p:nvPr/>
        </p:nvSpPr>
        <p:spPr>
          <a:xfrm>
            <a:off x="274320" y="1078992"/>
            <a:ext cx="1572768" cy="321868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6" name="Shape 4"/>
          <p:cNvSpPr/>
          <p:nvPr/>
        </p:nvSpPr>
        <p:spPr>
          <a:xfrm>
            <a:off x="274320" y="1078992"/>
            <a:ext cx="1572768" cy="54864"/>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795528" y="1188720"/>
            <a:ext cx="530352" cy="530352"/>
          </a:xfrm>
          <a:prstGeom prst="ellipse">
            <a:avLst/>
          </a:prstGeom>
          <a:solidFill>
            <a:srgbClr val="00D4FF"/>
          </a:solidFill>
          <a:ln w="12700">
            <a:solidFill>
              <a:srgbClr val="00D4FF"/>
            </a:solidFill>
            <a:prstDash val="solid"/>
          </a:ln>
        </p:spPr>
        <p:txBody>
          <a:bodyPr/>
          <a:lstStyle/>
          <a:p>
            <a:endParaRPr lang="en-US"/>
          </a:p>
        </p:txBody>
      </p:sp>
      <p:sp>
        <p:nvSpPr>
          <p:cNvPr id="8" name="Text 6"/>
          <p:cNvSpPr/>
          <p:nvPr/>
        </p:nvSpPr>
        <p:spPr>
          <a:xfrm>
            <a:off x="795528" y="1188720"/>
            <a:ext cx="530352" cy="530352"/>
          </a:xfrm>
          <a:prstGeom prst="rect">
            <a:avLst/>
          </a:prstGeom>
          <a:noFill/>
          <a:ln/>
        </p:spPr>
        <p:txBody>
          <a:bodyPr wrap="square" lIns="0" tIns="0" rIns="0" bIns="0" rtlCol="0" anchor="ctr"/>
          <a:lstStyle/>
          <a:p>
            <a:pPr marL="0" indent="0" algn="ctr">
              <a:buNone/>
            </a:pPr>
            <a:r>
              <a:rPr lang="en-US" sz="1800" b="1" dirty="0">
                <a:solidFill>
                  <a:srgbClr val="0D1117"/>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365760" y="1883664"/>
            <a:ext cx="1389888" cy="548640"/>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Parse &amp;</a:t>
            </a:r>
            <a:endParaRPr lang="en-US" sz="1150" dirty="0"/>
          </a:p>
          <a:p>
            <a:pPr marL="0" indent="0" algn="ctr">
              <a:buNone/>
            </a:pPr>
            <a:r>
              <a:rPr lang="en-US" sz="1150" b="1" dirty="0">
                <a:solidFill>
                  <a:srgbClr val="1E293B"/>
                </a:solidFill>
                <a:latin typeface="Calibri" pitchFamily="34" charset="0"/>
                <a:ea typeface="Calibri" pitchFamily="34" charset="-122"/>
                <a:cs typeface="Calibri" pitchFamily="34" charset="-120"/>
              </a:rPr>
              <a:t>Normalize</a:t>
            </a:r>
            <a:endParaRPr lang="en-US" sz="1150" dirty="0"/>
          </a:p>
        </p:txBody>
      </p:sp>
      <p:sp>
        <p:nvSpPr>
          <p:cNvPr id="10" name="Text 8"/>
          <p:cNvSpPr/>
          <p:nvPr/>
        </p:nvSpPr>
        <p:spPr>
          <a:xfrm>
            <a:off x="365760" y="2487168"/>
            <a:ext cx="1389888" cy="1719072"/>
          </a:xfrm>
          <a:prstGeom prst="rect">
            <a:avLst/>
          </a:prstGeom>
          <a:noFill/>
          <a:ln/>
        </p:spPr>
        <p:txBody>
          <a:bodyPr wrap="square" rtlCol="0" anchor="t"/>
          <a:lstStyle/>
          <a:p>
            <a:pPr marL="0" indent="0" algn="ctr">
              <a:buNone/>
            </a:pPr>
            <a:r>
              <a:rPr lang="en-US" sz="1050" dirty="0">
                <a:solidFill>
                  <a:srgbClr val="475569"/>
                </a:solidFill>
                <a:latin typeface="Calibri" pitchFamily="34" charset="0"/>
                <a:ea typeface="Calibri" pitchFamily="34" charset="-122"/>
                <a:cs typeface="Calibri" pitchFamily="34" charset="-120"/>
              </a:rPr>
              <a:t>eve.json → structured records</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(timestamp, IPs, ports, signature, severity)</a:t>
            </a:r>
            <a:endParaRPr lang="en-US" sz="1050" dirty="0"/>
          </a:p>
        </p:txBody>
      </p:sp>
      <p:sp>
        <p:nvSpPr>
          <p:cNvPr id="11" name="Shape 9"/>
          <p:cNvSpPr/>
          <p:nvPr/>
        </p:nvSpPr>
        <p:spPr>
          <a:xfrm>
            <a:off x="1847088" y="2715768"/>
            <a:ext cx="146304" cy="0"/>
          </a:xfrm>
          <a:prstGeom prst="line">
            <a:avLst/>
          </a:prstGeom>
          <a:noFill/>
          <a:ln w="19050">
            <a:solidFill>
              <a:srgbClr val="475569"/>
            </a:solidFill>
            <a:prstDash val="solid"/>
          </a:ln>
        </p:spPr>
        <p:txBody>
          <a:bodyPr/>
          <a:lstStyle/>
          <a:p>
            <a:endParaRPr lang="en-US"/>
          </a:p>
        </p:txBody>
      </p:sp>
      <p:sp>
        <p:nvSpPr>
          <p:cNvPr id="12" name="Shape 10"/>
          <p:cNvSpPr/>
          <p:nvPr/>
        </p:nvSpPr>
        <p:spPr>
          <a:xfrm>
            <a:off x="1993392" y="1078992"/>
            <a:ext cx="1572768" cy="321868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13" name="Shape 11"/>
          <p:cNvSpPr/>
          <p:nvPr/>
        </p:nvSpPr>
        <p:spPr>
          <a:xfrm>
            <a:off x="1993392" y="1078992"/>
            <a:ext cx="1572768" cy="54864"/>
          </a:xfrm>
          <a:prstGeom prst="rect">
            <a:avLst/>
          </a:prstGeom>
          <a:solidFill>
            <a:srgbClr val="00E87A"/>
          </a:solidFill>
          <a:ln w="12700">
            <a:solidFill>
              <a:srgbClr val="00E87A"/>
            </a:solidFill>
            <a:prstDash val="solid"/>
          </a:ln>
        </p:spPr>
        <p:txBody>
          <a:bodyPr/>
          <a:lstStyle/>
          <a:p>
            <a:endParaRPr lang="en-US"/>
          </a:p>
        </p:txBody>
      </p:sp>
      <p:sp>
        <p:nvSpPr>
          <p:cNvPr id="14" name="Shape 12"/>
          <p:cNvSpPr/>
          <p:nvPr/>
        </p:nvSpPr>
        <p:spPr>
          <a:xfrm>
            <a:off x="2514600" y="1188720"/>
            <a:ext cx="530352" cy="530352"/>
          </a:xfrm>
          <a:prstGeom prst="ellipse">
            <a:avLst/>
          </a:prstGeom>
          <a:solidFill>
            <a:srgbClr val="00E87A"/>
          </a:solidFill>
          <a:ln w="12700">
            <a:solidFill>
              <a:srgbClr val="00E87A"/>
            </a:solidFill>
            <a:prstDash val="solid"/>
          </a:ln>
        </p:spPr>
        <p:txBody>
          <a:bodyPr/>
          <a:lstStyle/>
          <a:p>
            <a:endParaRPr lang="en-US"/>
          </a:p>
        </p:txBody>
      </p:sp>
      <p:sp>
        <p:nvSpPr>
          <p:cNvPr id="15" name="Text 13"/>
          <p:cNvSpPr/>
          <p:nvPr/>
        </p:nvSpPr>
        <p:spPr>
          <a:xfrm>
            <a:off x="2514600" y="1188720"/>
            <a:ext cx="530352" cy="530352"/>
          </a:xfrm>
          <a:prstGeom prst="rect">
            <a:avLst/>
          </a:prstGeom>
          <a:noFill/>
          <a:ln/>
        </p:spPr>
        <p:txBody>
          <a:bodyPr wrap="square" lIns="0" tIns="0" rIns="0" bIns="0" rtlCol="0" anchor="ctr"/>
          <a:lstStyle/>
          <a:p>
            <a:pPr marL="0" indent="0" algn="ctr">
              <a:buNone/>
            </a:pPr>
            <a:r>
              <a:rPr lang="en-US" sz="1800" b="1" dirty="0">
                <a:solidFill>
                  <a:srgbClr val="0D1117"/>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2084832" y="1883664"/>
            <a:ext cx="1389888" cy="548640"/>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AI Semantic</a:t>
            </a:r>
            <a:endParaRPr lang="en-US" sz="1150" dirty="0"/>
          </a:p>
          <a:p>
            <a:pPr marL="0" indent="0" algn="ctr">
              <a:buNone/>
            </a:pPr>
            <a:r>
              <a:rPr lang="en-US" sz="1150" b="1" dirty="0">
                <a:solidFill>
                  <a:srgbClr val="1E293B"/>
                </a:solidFill>
                <a:latin typeface="Calibri" pitchFamily="34" charset="0"/>
                <a:ea typeface="Calibri" pitchFamily="34" charset="-122"/>
                <a:cs typeface="Calibri" pitchFamily="34" charset="-120"/>
              </a:rPr>
              <a:t>Embedding</a:t>
            </a:r>
            <a:endParaRPr lang="en-US" sz="1150" dirty="0"/>
          </a:p>
        </p:txBody>
      </p:sp>
      <p:sp>
        <p:nvSpPr>
          <p:cNvPr id="17" name="Text 15"/>
          <p:cNvSpPr/>
          <p:nvPr/>
        </p:nvSpPr>
        <p:spPr>
          <a:xfrm>
            <a:off x="2084832" y="2487168"/>
            <a:ext cx="1389888" cy="1719072"/>
          </a:xfrm>
          <a:prstGeom prst="rect">
            <a:avLst/>
          </a:prstGeom>
          <a:noFill/>
          <a:ln/>
        </p:spPr>
        <p:txBody>
          <a:bodyPr wrap="square" rtlCol="0" anchor="t"/>
          <a:lstStyle/>
          <a:p>
            <a:pPr marL="0" indent="0" algn="ctr">
              <a:buNone/>
            </a:pPr>
            <a:r>
              <a:rPr lang="en-US" sz="1050" dirty="0">
                <a:solidFill>
                  <a:srgbClr val="475569"/>
                </a:solidFill>
                <a:latin typeface="Calibri" pitchFamily="34" charset="0"/>
                <a:ea typeface="Calibri" pitchFamily="34" charset="-122"/>
                <a:cs typeface="Calibri" pitchFamily="34" charset="-120"/>
              </a:rPr>
              <a:t>MiniLM-L6-v2 → 384-dimentional vectors,</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captures behavioral similarity</a:t>
            </a:r>
            <a:endParaRPr lang="en-US" sz="1050" dirty="0"/>
          </a:p>
        </p:txBody>
      </p:sp>
      <p:sp>
        <p:nvSpPr>
          <p:cNvPr id="18" name="Shape 16"/>
          <p:cNvSpPr/>
          <p:nvPr/>
        </p:nvSpPr>
        <p:spPr>
          <a:xfrm>
            <a:off x="3566160" y="2715768"/>
            <a:ext cx="146304" cy="0"/>
          </a:xfrm>
          <a:prstGeom prst="line">
            <a:avLst/>
          </a:prstGeom>
          <a:noFill/>
          <a:ln w="19050">
            <a:solidFill>
              <a:srgbClr val="475569"/>
            </a:solidFill>
            <a:prstDash val="solid"/>
          </a:ln>
        </p:spPr>
        <p:txBody>
          <a:bodyPr/>
          <a:lstStyle/>
          <a:p>
            <a:endParaRPr lang="en-US"/>
          </a:p>
        </p:txBody>
      </p:sp>
      <p:sp>
        <p:nvSpPr>
          <p:cNvPr id="19" name="Shape 17"/>
          <p:cNvSpPr/>
          <p:nvPr/>
        </p:nvSpPr>
        <p:spPr>
          <a:xfrm>
            <a:off x="3712464" y="1078992"/>
            <a:ext cx="1572768" cy="321868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20" name="Shape 18"/>
          <p:cNvSpPr/>
          <p:nvPr/>
        </p:nvSpPr>
        <p:spPr>
          <a:xfrm>
            <a:off x="3712464" y="1078992"/>
            <a:ext cx="1572768" cy="54864"/>
          </a:xfrm>
          <a:prstGeom prst="rect">
            <a:avLst/>
          </a:prstGeom>
          <a:solidFill>
            <a:srgbClr val="FFB703"/>
          </a:solidFill>
          <a:ln w="12700">
            <a:solidFill>
              <a:srgbClr val="FFB703"/>
            </a:solidFill>
            <a:prstDash val="solid"/>
          </a:ln>
        </p:spPr>
        <p:txBody>
          <a:bodyPr/>
          <a:lstStyle/>
          <a:p>
            <a:endParaRPr lang="en-US"/>
          </a:p>
        </p:txBody>
      </p:sp>
      <p:sp>
        <p:nvSpPr>
          <p:cNvPr id="21" name="Shape 19"/>
          <p:cNvSpPr/>
          <p:nvPr/>
        </p:nvSpPr>
        <p:spPr>
          <a:xfrm>
            <a:off x="4233672" y="1188720"/>
            <a:ext cx="530352" cy="530352"/>
          </a:xfrm>
          <a:prstGeom prst="ellipse">
            <a:avLst/>
          </a:prstGeom>
          <a:solidFill>
            <a:srgbClr val="FFB703"/>
          </a:solidFill>
          <a:ln w="12700">
            <a:solidFill>
              <a:srgbClr val="FFB703"/>
            </a:solidFill>
            <a:prstDash val="solid"/>
          </a:ln>
        </p:spPr>
        <p:txBody>
          <a:bodyPr/>
          <a:lstStyle/>
          <a:p>
            <a:endParaRPr lang="en-US"/>
          </a:p>
        </p:txBody>
      </p:sp>
      <p:sp>
        <p:nvSpPr>
          <p:cNvPr id="22" name="Text 20"/>
          <p:cNvSpPr/>
          <p:nvPr/>
        </p:nvSpPr>
        <p:spPr>
          <a:xfrm>
            <a:off x="4233672" y="1188720"/>
            <a:ext cx="530352" cy="530352"/>
          </a:xfrm>
          <a:prstGeom prst="rect">
            <a:avLst/>
          </a:prstGeom>
          <a:noFill/>
          <a:ln/>
        </p:spPr>
        <p:txBody>
          <a:bodyPr wrap="square" lIns="0" tIns="0" rIns="0" bIns="0" rtlCol="0" anchor="ctr"/>
          <a:lstStyle/>
          <a:p>
            <a:pPr marL="0" indent="0" algn="ctr">
              <a:buNone/>
            </a:pPr>
            <a:r>
              <a:rPr lang="en-US" sz="1800" b="1" dirty="0">
                <a:solidFill>
                  <a:srgbClr val="0D1117"/>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3803904" y="1883664"/>
            <a:ext cx="1389888" cy="548640"/>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Candidate</a:t>
            </a:r>
            <a:endParaRPr lang="en-US" sz="1150" dirty="0"/>
          </a:p>
          <a:p>
            <a:pPr marL="0" indent="0" algn="ctr">
              <a:buNone/>
            </a:pPr>
            <a:r>
              <a:rPr lang="en-US" sz="1150" b="1" dirty="0">
                <a:solidFill>
                  <a:srgbClr val="1E293B"/>
                </a:solidFill>
                <a:latin typeface="Calibri" pitchFamily="34" charset="0"/>
                <a:ea typeface="Calibri" pitchFamily="34" charset="-122"/>
                <a:cs typeface="Calibri" pitchFamily="34" charset="-120"/>
              </a:rPr>
              <a:t>Grouping</a:t>
            </a:r>
            <a:endParaRPr lang="en-US" sz="1150" dirty="0"/>
          </a:p>
        </p:txBody>
      </p:sp>
      <p:sp>
        <p:nvSpPr>
          <p:cNvPr id="24" name="Text 22"/>
          <p:cNvSpPr/>
          <p:nvPr/>
        </p:nvSpPr>
        <p:spPr>
          <a:xfrm>
            <a:off x="3803904" y="2487168"/>
            <a:ext cx="1389888" cy="1719072"/>
          </a:xfrm>
          <a:prstGeom prst="rect">
            <a:avLst/>
          </a:prstGeom>
          <a:noFill/>
          <a:ln/>
        </p:spPr>
        <p:txBody>
          <a:bodyPr wrap="square" rtlCol="0" anchor="t"/>
          <a:lstStyle/>
          <a:p>
            <a:pPr marL="0" indent="0" algn="ctr">
              <a:buNone/>
            </a:pPr>
            <a:r>
              <a:rPr lang="en-US" sz="1050" dirty="0">
                <a:solidFill>
                  <a:srgbClr val="475569"/>
                </a:solidFill>
                <a:latin typeface="Calibri" pitchFamily="34" charset="0"/>
                <a:ea typeface="Calibri" pitchFamily="34" charset="-122"/>
                <a:cs typeface="Calibri" pitchFamily="34" charset="-120"/>
              </a:rPr>
              <a:t>src_ip + 30-min default time window</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Reduces computational complexity</a:t>
            </a:r>
            <a:endParaRPr lang="en-US" sz="1050" dirty="0"/>
          </a:p>
        </p:txBody>
      </p:sp>
      <p:sp>
        <p:nvSpPr>
          <p:cNvPr id="25" name="Shape 23"/>
          <p:cNvSpPr/>
          <p:nvPr/>
        </p:nvSpPr>
        <p:spPr>
          <a:xfrm>
            <a:off x="5285232" y="2715768"/>
            <a:ext cx="146304" cy="0"/>
          </a:xfrm>
          <a:prstGeom prst="line">
            <a:avLst/>
          </a:prstGeom>
          <a:noFill/>
          <a:ln w="19050">
            <a:solidFill>
              <a:srgbClr val="475569"/>
            </a:solidFill>
            <a:prstDash val="solid"/>
          </a:ln>
        </p:spPr>
        <p:txBody>
          <a:bodyPr/>
          <a:lstStyle/>
          <a:p>
            <a:endParaRPr lang="en-US"/>
          </a:p>
        </p:txBody>
      </p:sp>
      <p:sp>
        <p:nvSpPr>
          <p:cNvPr id="26" name="Shape 24"/>
          <p:cNvSpPr/>
          <p:nvPr/>
        </p:nvSpPr>
        <p:spPr>
          <a:xfrm>
            <a:off x="5431536" y="1078992"/>
            <a:ext cx="1572768" cy="321868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27" name="Shape 25"/>
          <p:cNvSpPr/>
          <p:nvPr/>
        </p:nvSpPr>
        <p:spPr>
          <a:xfrm>
            <a:off x="5431536" y="1078992"/>
            <a:ext cx="1572768" cy="54864"/>
          </a:xfrm>
          <a:prstGeom prst="rect">
            <a:avLst/>
          </a:prstGeom>
          <a:solidFill>
            <a:srgbClr val="FF7C3A"/>
          </a:solidFill>
          <a:ln w="12700">
            <a:solidFill>
              <a:srgbClr val="FF7C3A"/>
            </a:solidFill>
            <a:prstDash val="solid"/>
          </a:ln>
        </p:spPr>
        <p:txBody>
          <a:bodyPr/>
          <a:lstStyle/>
          <a:p>
            <a:endParaRPr lang="en-US"/>
          </a:p>
        </p:txBody>
      </p:sp>
      <p:sp>
        <p:nvSpPr>
          <p:cNvPr id="28" name="Shape 26"/>
          <p:cNvSpPr/>
          <p:nvPr/>
        </p:nvSpPr>
        <p:spPr>
          <a:xfrm>
            <a:off x="5952744" y="1188720"/>
            <a:ext cx="530352" cy="530352"/>
          </a:xfrm>
          <a:prstGeom prst="ellipse">
            <a:avLst/>
          </a:prstGeom>
          <a:solidFill>
            <a:srgbClr val="FF7C3A"/>
          </a:solidFill>
          <a:ln w="12700">
            <a:solidFill>
              <a:srgbClr val="FF7C3A"/>
            </a:solidFill>
            <a:prstDash val="solid"/>
          </a:ln>
        </p:spPr>
        <p:txBody>
          <a:bodyPr/>
          <a:lstStyle/>
          <a:p>
            <a:endParaRPr lang="en-US"/>
          </a:p>
        </p:txBody>
      </p:sp>
      <p:sp>
        <p:nvSpPr>
          <p:cNvPr id="29" name="Text 27"/>
          <p:cNvSpPr/>
          <p:nvPr/>
        </p:nvSpPr>
        <p:spPr>
          <a:xfrm>
            <a:off x="5952744" y="1188720"/>
            <a:ext cx="530352" cy="530352"/>
          </a:xfrm>
          <a:prstGeom prst="rect">
            <a:avLst/>
          </a:prstGeom>
          <a:noFill/>
          <a:ln/>
        </p:spPr>
        <p:txBody>
          <a:bodyPr wrap="square" lIns="0" tIns="0" rIns="0" bIns="0" rtlCol="0" anchor="ctr"/>
          <a:lstStyle/>
          <a:p>
            <a:pPr marL="0" indent="0" algn="ctr">
              <a:buNone/>
            </a:pPr>
            <a:r>
              <a:rPr lang="en-US" sz="1800" b="1" dirty="0">
                <a:solidFill>
                  <a:srgbClr val="0D1117"/>
                </a:solidFill>
                <a:latin typeface="Calibri" pitchFamily="34" charset="0"/>
                <a:ea typeface="Calibri" pitchFamily="34" charset="-122"/>
                <a:cs typeface="Calibri" pitchFamily="34" charset="-120"/>
              </a:rPr>
              <a:t>4</a:t>
            </a:r>
            <a:endParaRPr lang="en-US" sz="1800" dirty="0"/>
          </a:p>
        </p:txBody>
      </p:sp>
      <p:sp>
        <p:nvSpPr>
          <p:cNvPr id="30" name="Text 28"/>
          <p:cNvSpPr/>
          <p:nvPr/>
        </p:nvSpPr>
        <p:spPr>
          <a:xfrm>
            <a:off x="5522976" y="1883664"/>
            <a:ext cx="1389888" cy="548640"/>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Similarity</a:t>
            </a:r>
            <a:endParaRPr lang="en-US" sz="1150" dirty="0"/>
          </a:p>
          <a:p>
            <a:pPr marL="0" indent="0" algn="ctr">
              <a:buNone/>
            </a:pPr>
            <a:r>
              <a:rPr lang="en-US" sz="1150" b="1" dirty="0">
                <a:solidFill>
                  <a:srgbClr val="1E293B"/>
                </a:solidFill>
                <a:latin typeface="Calibri" pitchFamily="34" charset="0"/>
                <a:ea typeface="Calibri" pitchFamily="34" charset="-122"/>
                <a:cs typeface="Calibri" pitchFamily="34" charset="-120"/>
              </a:rPr>
              <a:t>Clustering</a:t>
            </a:r>
            <a:endParaRPr lang="en-US" sz="1150" dirty="0"/>
          </a:p>
        </p:txBody>
      </p:sp>
      <p:sp>
        <p:nvSpPr>
          <p:cNvPr id="31" name="Text 29"/>
          <p:cNvSpPr/>
          <p:nvPr/>
        </p:nvSpPr>
        <p:spPr>
          <a:xfrm>
            <a:off x="5522976" y="2487168"/>
            <a:ext cx="1389888" cy="1719072"/>
          </a:xfrm>
          <a:prstGeom prst="rect">
            <a:avLst/>
          </a:prstGeom>
          <a:noFill/>
          <a:ln/>
        </p:spPr>
        <p:txBody>
          <a:bodyPr wrap="square" rtlCol="0" anchor="t"/>
          <a:lstStyle/>
          <a:p>
            <a:pPr marL="0" indent="0" algn="ctr">
              <a:buNone/>
            </a:pPr>
            <a:r>
              <a:rPr lang="en-US" sz="1050" dirty="0">
                <a:solidFill>
                  <a:srgbClr val="475569"/>
                </a:solidFill>
                <a:latin typeface="Calibri" pitchFamily="34" charset="0"/>
                <a:ea typeface="Calibri" pitchFamily="34" charset="-122"/>
                <a:cs typeface="Calibri" pitchFamily="34" charset="-120"/>
              </a:rPr>
              <a:t>DBSCAN/Hierarchical/OPTICS</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on cosine-distance embeddings</a:t>
            </a:r>
            <a:endParaRPr lang="en-US" sz="1050" dirty="0"/>
          </a:p>
        </p:txBody>
      </p:sp>
      <p:sp>
        <p:nvSpPr>
          <p:cNvPr id="32" name="Shape 30"/>
          <p:cNvSpPr/>
          <p:nvPr/>
        </p:nvSpPr>
        <p:spPr>
          <a:xfrm>
            <a:off x="7004304" y="2715768"/>
            <a:ext cx="146304" cy="0"/>
          </a:xfrm>
          <a:prstGeom prst="line">
            <a:avLst/>
          </a:prstGeom>
          <a:noFill/>
          <a:ln w="19050">
            <a:solidFill>
              <a:srgbClr val="475569"/>
            </a:solidFill>
            <a:prstDash val="solid"/>
          </a:ln>
        </p:spPr>
        <p:txBody>
          <a:bodyPr/>
          <a:lstStyle/>
          <a:p>
            <a:endParaRPr lang="en-US"/>
          </a:p>
        </p:txBody>
      </p:sp>
      <p:sp>
        <p:nvSpPr>
          <p:cNvPr id="33" name="Shape 31"/>
          <p:cNvSpPr/>
          <p:nvPr/>
        </p:nvSpPr>
        <p:spPr>
          <a:xfrm>
            <a:off x="7150608" y="1078992"/>
            <a:ext cx="1572768" cy="321868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34" name="Shape 32"/>
          <p:cNvSpPr/>
          <p:nvPr/>
        </p:nvSpPr>
        <p:spPr>
          <a:xfrm>
            <a:off x="7150608" y="1078992"/>
            <a:ext cx="1572768" cy="54864"/>
          </a:xfrm>
          <a:prstGeom prst="rect">
            <a:avLst/>
          </a:prstGeom>
          <a:solidFill>
            <a:srgbClr val="FF3A5C"/>
          </a:solidFill>
          <a:ln w="12700">
            <a:solidFill>
              <a:srgbClr val="FF3A5C"/>
            </a:solidFill>
            <a:prstDash val="solid"/>
          </a:ln>
        </p:spPr>
        <p:txBody>
          <a:bodyPr/>
          <a:lstStyle/>
          <a:p>
            <a:endParaRPr lang="en-US"/>
          </a:p>
        </p:txBody>
      </p:sp>
      <p:sp>
        <p:nvSpPr>
          <p:cNvPr id="35" name="Shape 33"/>
          <p:cNvSpPr/>
          <p:nvPr/>
        </p:nvSpPr>
        <p:spPr>
          <a:xfrm>
            <a:off x="7671816" y="1188720"/>
            <a:ext cx="530352" cy="530352"/>
          </a:xfrm>
          <a:prstGeom prst="ellipse">
            <a:avLst/>
          </a:prstGeom>
          <a:solidFill>
            <a:srgbClr val="FF3A5C"/>
          </a:solidFill>
          <a:ln w="12700">
            <a:solidFill>
              <a:srgbClr val="FF3A5C"/>
            </a:solidFill>
            <a:prstDash val="solid"/>
          </a:ln>
        </p:spPr>
        <p:txBody>
          <a:bodyPr/>
          <a:lstStyle/>
          <a:p>
            <a:endParaRPr lang="en-US"/>
          </a:p>
        </p:txBody>
      </p:sp>
      <p:sp>
        <p:nvSpPr>
          <p:cNvPr id="36" name="Text 34"/>
          <p:cNvSpPr/>
          <p:nvPr/>
        </p:nvSpPr>
        <p:spPr>
          <a:xfrm>
            <a:off x="7671816" y="1188720"/>
            <a:ext cx="530352" cy="530352"/>
          </a:xfrm>
          <a:prstGeom prst="rect">
            <a:avLst/>
          </a:prstGeom>
          <a:noFill/>
          <a:ln/>
        </p:spPr>
        <p:txBody>
          <a:bodyPr wrap="square" lIns="0" tIns="0" rIns="0" bIns="0" rtlCol="0" anchor="ctr"/>
          <a:lstStyle/>
          <a:p>
            <a:pPr marL="0" indent="0" algn="ctr">
              <a:buNone/>
            </a:pPr>
            <a:r>
              <a:rPr lang="en-US" sz="1800" b="1" dirty="0">
                <a:solidFill>
                  <a:srgbClr val="0D1117"/>
                </a:solidFill>
                <a:latin typeface="Calibri" pitchFamily="34" charset="0"/>
                <a:ea typeface="Calibri" pitchFamily="34" charset="-122"/>
                <a:cs typeface="Calibri" pitchFamily="34" charset="-120"/>
              </a:rPr>
              <a:t>5</a:t>
            </a:r>
            <a:endParaRPr lang="en-US" sz="1800" dirty="0"/>
          </a:p>
        </p:txBody>
      </p:sp>
      <p:sp>
        <p:nvSpPr>
          <p:cNvPr id="37" name="Text 35"/>
          <p:cNvSpPr/>
          <p:nvPr/>
        </p:nvSpPr>
        <p:spPr>
          <a:xfrm>
            <a:off x="7242048" y="1883664"/>
            <a:ext cx="1389888" cy="548640"/>
          </a:xfrm>
          <a:prstGeom prst="rect">
            <a:avLst/>
          </a:prstGeom>
          <a:noFill/>
          <a:ln/>
        </p:spPr>
        <p:txBody>
          <a:bodyPr wrap="square" rtlCol="0" anchor="ctr"/>
          <a:lstStyle/>
          <a:p>
            <a:pPr marL="0" indent="0" algn="ctr">
              <a:buNone/>
            </a:pPr>
            <a:r>
              <a:rPr lang="en-US" sz="1150" b="1" dirty="0">
                <a:solidFill>
                  <a:srgbClr val="1E293B"/>
                </a:solidFill>
                <a:latin typeface="Calibri" pitchFamily="34" charset="0"/>
                <a:ea typeface="Calibri" pitchFamily="34" charset="-122"/>
                <a:cs typeface="Calibri" pitchFamily="34" charset="-120"/>
              </a:rPr>
              <a:t>Incident</a:t>
            </a:r>
            <a:endParaRPr lang="en-US" sz="1150" dirty="0"/>
          </a:p>
          <a:p>
            <a:pPr marL="0" indent="0" algn="ctr">
              <a:buNone/>
            </a:pPr>
            <a:r>
              <a:rPr lang="en-US" sz="1150" b="1" dirty="0">
                <a:solidFill>
                  <a:srgbClr val="1E293B"/>
                </a:solidFill>
                <a:latin typeface="Calibri" pitchFamily="34" charset="0"/>
                <a:ea typeface="Calibri" pitchFamily="34" charset="-122"/>
                <a:cs typeface="Calibri" pitchFamily="34" charset="-120"/>
              </a:rPr>
              <a:t>Stitching</a:t>
            </a:r>
            <a:endParaRPr lang="en-US" sz="1150" dirty="0"/>
          </a:p>
        </p:txBody>
      </p:sp>
      <p:sp>
        <p:nvSpPr>
          <p:cNvPr id="38" name="Text 36"/>
          <p:cNvSpPr/>
          <p:nvPr/>
        </p:nvSpPr>
        <p:spPr>
          <a:xfrm>
            <a:off x="7242048" y="2487168"/>
            <a:ext cx="1389888" cy="1719072"/>
          </a:xfrm>
          <a:prstGeom prst="rect">
            <a:avLst/>
          </a:prstGeom>
          <a:noFill/>
          <a:ln/>
        </p:spPr>
        <p:txBody>
          <a:bodyPr wrap="square" rtlCol="0" anchor="t"/>
          <a:lstStyle/>
          <a:p>
            <a:pPr marL="0" indent="0" algn="ctr">
              <a:buNone/>
            </a:pPr>
            <a:r>
              <a:rPr lang="en-US" sz="1050" dirty="0">
                <a:solidFill>
                  <a:srgbClr val="475569"/>
                </a:solidFill>
                <a:latin typeface="Calibri" pitchFamily="34" charset="0"/>
                <a:ea typeface="Calibri" pitchFamily="34" charset="-122"/>
                <a:cs typeface="Calibri" pitchFamily="34" charset="-120"/>
              </a:rPr>
              <a:t>Alert groups → analyst incidents</a:t>
            </a:r>
            <a:endParaRPr lang="en-US" sz="1050" dirty="0"/>
          </a:p>
          <a:p>
            <a:pPr marL="0" indent="0" algn="ctr">
              <a:buNone/>
            </a:pPr>
            <a:r>
              <a:rPr lang="en-US" sz="1050" dirty="0">
                <a:solidFill>
                  <a:srgbClr val="475569"/>
                </a:solidFill>
                <a:latin typeface="Calibri" pitchFamily="34" charset="0"/>
                <a:ea typeface="Calibri" pitchFamily="34" charset="-122"/>
                <a:cs typeface="Calibri" pitchFamily="34" charset="-120"/>
              </a:rPr>
              <a:t>With IDs, summaries &amp; timelines</a:t>
            </a:r>
            <a:endParaRPr lang="en-US" sz="1050" dirty="0"/>
          </a:p>
        </p:txBody>
      </p:sp>
      <p:pic>
        <p:nvPicPr>
          <p:cNvPr id="39" name="Image 0" descr="preencoded.png"/>
          <p:cNvPicPr>
            <a:picLocks noChangeAspect="1"/>
          </p:cNvPicPr>
          <p:nvPr/>
        </p:nvPicPr>
        <p:blipFill>
          <a:blip r:embed="rId3"/>
          <a:stretch>
            <a:fillRect/>
          </a:stretch>
        </p:blipFill>
        <p:spPr>
          <a:xfrm>
            <a:off x="274320" y="4407408"/>
            <a:ext cx="8595360" cy="2926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1B22"/>
          </a:solidFill>
          <a:ln w="12700">
            <a:solidFill>
              <a:srgbClr val="161B22"/>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TECHNOLOGY USED</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400" b="1" dirty="0">
                <a:solidFill>
                  <a:srgbClr val="E8F0F8"/>
                </a:solidFill>
                <a:latin typeface="Calibri" pitchFamily="34" charset="0"/>
                <a:ea typeface="Calibri" pitchFamily="34" charset="-122"/>
                <a:cs typeface="Calibri" pitchFamily="34" charset="-120"/>
              </a:rPr>
              <a:t>Technology Components</a:t>
            </a:r>
            <a:endParaRPr lang="en-US" sz="2400" dirty="0"/>
          </a:p>
        </p:txBody>
      </p:sp>
      <p:sp>
        <p:nvSpPr>
          <p:cNvPr id="5" name="Shape 3"/>
          <p:cNvSpPr/>
          <p:nvPr/>
        </p:nvSpPr>
        <p:spPr>
          <a:xfrm>
            <a:off x="274320" y="1078992"/>
            <a:ext cx="4160520" cy="1664208"/>
          </a:xfrm>
          <a:prstGeom prst="rect">
            <a:avLst/>
          </a:prstGeom>
          <a:solidFill>
            <a:srgbClr val="1C2333"/>
          </a:solidFill>
          <a:ln w="12700">
            <a:solidFill>
              <a:srgbClr val="00D4FF"/>
            </a:solidFill>
            <a:prstDash val="solid"/>
          </a:ln>
          <a:effectLst>
            <a:outerShdw blurRad="127000" dist="38100" dir="8100000" algn="bl" rotWithShape="0">
              <a:srgbClr val="000000">
                <a:alpha val="25000"/>
              </a:srgbClr>
            </a:outerShdw>
          </a:effectLst>
        </p:spPr>
        <p:txBody>
          <a:bodyPr/>
          <a:lstStyle/>
          <a:p>
            <a:endParaRPr lang="en-US"/>
          </a:p>
        </p:txBody>
      </p:sp>
      <p:sp>
        <p:nvSpPr>
          <p:cNvPr id="6" name="Text 4"/>
          <p:cNvSpPr/>
          <p:nvPr/>
        </p:nvSpPr>
        <p:spPr>
          <a:xfrm>
            <a:off x="411480" y="1170432"/>
            <a:ext cx="3840480" cy="292608"/>
          </a:xfrm>
          <a:prstGeom prst="rect">
            <a:avLst/>
          </a:prstGeom>
          <a:noFill/>
          <a:ln/>
        </p:spPr>
        <p:txBody>
          <a:bodyPr wrap="square" rtlCol="0" anchor="ctr"/>
          <a:lstStyle/>
          <a:p>
            <a:pPr marL="0" indent="0">
              <a:buNone/>
            </a:pPr>
            <a:r>
              <a:rPr lang="en-US" sz="1300" b="1" dirty="0">
                <a:solidFill>
                  <a:srgbClr val="00D4FF"/>
                </a:solidFill>
                <a:latin typeface="Calibri" pitchFamily="34" charset="0"/>
                <a:ea typeface="Calibri" pitchFamily="34" charset="-122"/>
                <a:cs typeface="Calibri" pitchFamily="34" charset="-120"/>
              </a:rPr>
              <a:t>AI / Embedding</a:t>
            </a:r>
            <a:endParaRPr lang="en-US" sz="1300" dirty="0"/>
          </a:p>
        </p:txBody>
      </p:sp>
      <p:sp>
        <p:nvSpPr>
          <p:cNvPr id="7" name="Text 5"/>
          <p:cNvSpPr/>
          <p:nvPr/>
        </p:nvSpPr>
        <p:spPr>
          <a:xfrm>
            <a:off x="411480" y="1517904"/>
            <a:ext cx="3886200" cy="1170432"/>
          </a:xfrm>
          <a:prstGeom prst="rect">
            <a:avLst/>
          </a:prstGeom>
          <a:noFill/>
          <a:ln/>
        </p:spPr>
        <p:txBody>
          <a:bodyPr wrap="square" rtlCol="0" anchor="t"/>
          <a:lstStyle/>
          <a:p>
            <a:pPr marL="171450" indent="-171450">
              <a:lnSpc>
                <a:spcPct val="130000"/>
              </a:lnSpc>
              <a:buFont typeface="Arial" panose="020B0604020202020204" pitchFamily="34" charset="0"/>
              <a:buChar char="•"/>
            </a:pPr>
            <a:r>
              <a:rPr lang="en-US" sz="1100" dirty="0">
                <a:solidFill>
                  <a:srgbClr val="E8F0F8"/>
                </a:solidFill>
                <a:latin typeface="+mj-lt"/>
                <a:ea typeface="Calibri" pitchFamily="34" charset="-122"/>
                <a:cs typeface="Calibri" pitchFamily="34" charset="-120"/>
              </a:rPr>
              <a:t>Sentence-transformers/all-MiniLM-L6-v2</a:t>
            </a:r>
            <a:endParaRPr lang="en-US" sz="1100" dirty="0">
              <a:latin typeface="+mj-lt"/>
            </a:endParaRPr>
          </a:p>
          <a:p>
            <a:pPr marL="171450" indent="-171450">
              <a:lnSpc>
                <a:spcPct val="130000"/>
              </a:lnSpc>
              <a:buFont typeface="Arial" panose="020B0604020202020204" pitchFamily="34" charset="0"/>
              <a:buChar char="•"/>
            </a:pPr>
            <a:r>
              <a:rPr lang="en-US" sz="1100" dirty="0">
                <a:solidFill>
                  <a:srgbClr val="E8F0F8"/>
                </a:solidFill>
                <a:latin typeface="+mj-lt"/>
                <a:ea typeface="Calibri" pitchFamily="34" charset="-122"/>
                <a:cs typeface="Calibri" pitchFamily="34" charset="-120"/>
              </a:rPr>
              <a:t>384-dimensional semantic vectors</a:t>
            </a:r>
            <a:endParaRPr lang="en-US" sz="1100" dirty="0">
              <a:latin typeface="+mj-lt"/>
            </a:endParaRPr>
          </a:p>
          <a:p>
            <a:pPr marL="171450" indent="-171450">
              <a:lnSpc>
                <a:spcPct val="130000"/>
              </a:lnSpc>
              <a:buFont typeface="Arial" panose="020B0604020202020204" pitchFamily="34" charset="0"/>
              <a:buChar char="•"/>
            </a:pPr>
            <a:r>
              <a:rPr lang="en-US" sz="1100" dirty="0">
                <a:solidFill>
                  <a:srgbClr val="E8F0F8"/>
                </a:solidFill>
                <a:latin typeface="+mj-lt"/>
                <a:ea typeface="Calibri" pitchFamily="34" charset="-122"/>
                <a:cs typeface="Calibri" pitchFamily="34" charset="-120"/>
              </a:rPr>
              <a:t>Local hf_cache for repeatability</a:t>
            </a:r>
            <a:endParaRPr lang="en-US" sz="1100" dirty="0">
              <a:latin typeface="+mj-lt"/>
            </a:endParaRPr>
          </a:p>
          <a:p>
            <a:pPr marL="171450" indent="-171450">
              <a:lnSpc>
                <a:spcPct val="130000"/>
              </a:lnSpc>
              <a:buFont typeface="Arial" panose="020B0604020202020204" pitchFamily="34" charset="0"/>
              <a:buChar char="•"/>
            </a:pPr>
            <a:r>
              <a:rPr lang="en-US" sz="1100" dirty="0">
                <a:solidFill>
                  <a:srgbClr val="E8F0F8"/>
                </a:solidFill>
                <a:latin typeface="+mj-lt"/>
                <a:ea typeface="Calibri" pitchFamily="34" charset="-122"/>
                <a:cs typeface="Calibri" pitchFamily="34" charset="-120"/>
              </a:rPr>
              <a:t>Hugging Face model registry</a:t>
            </a:r>
            <a:endParaRPr lang="en-US" sz="1100" dirty="0">
              <a:latin typeface="+mj-lt"/>
            </a:endParaRPr>
          </a:p>
        </p:txBody>
      </p:sp>
      <p:sp>
        <p:nvSpPr>
          <p:cNvPr id="8" name="Shape 6"/>
          <p:cNvSpPr/>
          <p:nvPr/>
        </p:nvSpPr>
        <p:spPr>
          <a:xfrm>
            <a:off x="4709160" y="1078992"/>
            <a:ext cx="4160520" cy="1664208"/>
          </a:xfrm>
          <a:prstGeom prst="rect">
            <a:avLst/>
          </a:prstGeom>
          <a:solidFill>
            <a:srgbClr val="1C2333"/>
          </a:solidFill>
          <a:ln w="12700">
            <a:solidFill>
              <a:srgbClr val="00E87A"/>
            </a:solidFill>
            <a:prstDash val="solid"/>
          </a:ln>
          <a:effectLst>
            <a:outerShdw blurRad="127000" dist="38100" dir="8100000" algn="bl" rotWithShape="0">
              <a:srgbClr val="000000">
                <a:alpha val="25000"/>
              </a:srgbClr>
            </a:outerShdw>
          </a:effectLst>
        </p:spPr>
        <p:txBody>
          <a:bodyPr/>
          <a:lstStyle/>
          <a:p>
            <a:endParaRPr lang="en-US"/>
          </a:p>
        </p:txBody>
      </p:sp>
      <p:sp>
        <p:nvSpPr>
          <p:cNvPr id="9" name="Text 7"/>
          <p:cNvSpPr/>
          <p:nvPr/>
        </p:nvSpPr>
        <p:spPr>
          <a:xfrm>
            <a:off x="4846320" y="1170432"/>
            <a:ext cx="3840480" cy="292608"/>
          </a:xfrm>
          <a:prstGeom prst="rect">
            <a:avLst/>
          </a:prstGeom>
          <a:noFill/>
          <a:ln/>
        </p:spPr>
        <p:txBody>
          <a:bodyPr wrap="square" rtlCol="0" anchor="ctr"/>
          <a:lstStyle/>
          <a:p>
            <a:pPr marL="0" indent="0">
              <a:buNone/>
            </a:pPr>
            <a:r>
              <a:rPr lang="en-US" sz="1300" b="1" dirty="0">
                <a:solidFill>
                  <a:srgbClr val="00E87A"/>
                </a:solidFill>
                <a:latin typeface="Calibri" pitchFamily="34" charset="0"/>
                <a:ea typeface="Calibri" pitchFamily="34" charset="-122"/>
                <a:cs typeface="Calibri" pitchFamily="34" charset="-120"/>
              </a:rPr>
              <a:t>Clustering</a:t>
            </a:r>
            <a:endParaRPr lang="en-US" sz="1300" dirty="0"/>
          </a:p>
        </p:txBody>
      </p:sp>
      <p:sp>
        <p:nvSpPr>
          <p:cNvPr id="10" name="Text 8"/>
          <p:cNvSpPr/>
          <p:nvPr/>
        </p:nvSpPr>
        <p:spPr>
          <a:xfrm>
            <a:off x="4846320" y="1517904"/>
            <a:ext cx="3886200" cy="1170432"/>
          </a:xfrm>
          <a:prstGeom prst="rect">
            <a:avLst/>
          </a:prstGeom>
          <a:noFill/>
          <a:ln/>
        </p:spPr>
        <p:txBody>
          <a:bodyPr wrap="square" rtlCol="0" anchor="t"/>
          <a:lstStyle/>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DBSCAN (density-based)</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Hierarchical / Agglomerative</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OPTICS (variable density)</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Scikit-learn cosine distance</a:t>
            </a:r>
            <a:endParaRPr lang="en-US" sz="1100" dirty="0"/>
          </a:p>
        </p:txBody>
      </p:sp>
      <p:sp>
        <p:nvSpPr>
          <p:cNvPr id="11" name="Shape 9"/>
          <p:cNvSpPr/>
          <p:nvPr/>
        </p:nvSpPr>
        <p:spPr>
          <a:xfrm>
            <a:off x="274320" y="2862072"/>
            <a:ext cx="4160520" cy="1664208"/>
          </a:xfrm>
          <a:prstGeom prst="rect">
            <a:avLst/>
          </a:prstGeom>
          <a:solidFill>
            <a:srgbClr val="1C2333"/>
          </a:solidFill>
          <a:ln w="12700">
            <a:solidFill>
              <a:srgbClr val="FF7C3A"/>
            </a:solidFill>
            <a:prstDash val="solid"/>
          </a:ln>
          <a:effectLst>
            <a:outerShdw blurRad="127000" dist="38100" dir="8100000" algn="bl" rotWithShape="0">
              <a:srgbClr val="000000">
                <a:alpha val="25000"/>
              </a:srgbClr>
            </a:outerShdw>
          </a:effectLst>
        </p:spPr>
        <p:txBody>
          <a:bodyPr/>
          <a:lstStyle/>
          <a:p>
            <a:endParaRPr lang="en-US"/>
          </a:p>
        </p:txBody>
      </p:sp>
      <p:sp>
        <p:nvSpPr>
          <p:cNvPr id="12" name="Text 10"/>
          <p:cNvSpPr/>
          <p:nvPr/>
        </p:nvSpPr>
        <p:spPr>
          <a:xfrm>
            <a:off x="411480" y="2953512"/>
            <a:ext cx="3840480" cy="292608"/>
          </a:xfrm>
          <a:prstGeom prst="rect">
            <a:avLst/>
          </a:prstGeom>
          <a:noFill/>
          <a:ln/>
        </p:spPr>
        <p:txBody>
          <a:bodyPr wrap="square" rtlCol="0" anchor="ctr"/>
          <a:lstStyle/>
          <a:p>
            <a:pPr marL="0" indent="0">
              <a:buNone/>
            </a:pPr>
            <a:r>
              <a:rPr lang="en-US" sz="1300" b="1" dirty="0">
                <a:solidFill>
                  <a:srgbClr val="FF7C3A"/>
                </a:solidFill>
                <a:latin typeface="Calibri" pitchFamily="34" charset="0"/>
                <a:ea typeface="Calibri" pitchFamily="34" charset="-122"/>
                <a:cs typeface="Calibri" pitchFamily="34" charset="-120"/>
              </a:rPr>
              <a:t>Visualization</a:t>
            </a:r>
            <a:endParaRPr lang="en-US" sz="1300" dirty="0"/>
          </a:p>
        </p:txBody>
      </p:sp>
      <p:sp>
        <p:nvSpPr>
          <p:cNvPr id="13" name="Text 11"/>
          <p:cNvSpPr/>
          <p:nvPr/>
        </p:nvSpPr>
        <p:spPr>
          <a:xfrm>
            <a:off x="411480" y="3300984"/>
            <a:ext cx="3886200" cy="1170432"/>
          </a:xfrm>
          <a:prstGeom prst="rect">
            <a:avLst/>
          </a:prstGeom>
          <a:noFill/>
          <a:ln/>
        </p:spPr>
        <p:txBody>
          <a:bodyPr wrap="square" rtlCol="0" anchor="t"/>
          <a:lstStyle/>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UMAP / PCA / t-SNE projection</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Interactive Plotly Scatter Plot</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Incident cards with full drill-down</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Severity &amp; signature distributions</a:t>
            </a:r>
            <a:endParaRPr lang="en-US" sz="1100" dirty="0"/>
          </a:p>
        </p:txBody>
      </p:sp>
      <p:sp>
        <p:nvSpPr>
          <p:cNvPr id="14" name="Shape 12"/>
          <p:cNvSpPr/>
          <p:nvPr/>
        </p:nvSpPr>
        <p:spPr>
          <a:xfrm>
            <a:off x="4709160" y="2862072"/>
            <a:ext cx="4160520" cy="1664208"/>
          </a:xfrm>
          <a:prstGeom prst="rect">
            <a:avLst/>
          </a:prstGeom>
          <a:solidFill>
            <a:srgbClr val="1C2333"/>
          </a:solidFill>
          <a:ln w="12700">
            <a:solidFill>
              <a:srgbClr val="FFB703"/>
            </a:solidFill>
            <a:prstDash val="solid"/>
          </a:ln>
          <a:effectLst>
            <a:outerShdw blurRad="127000" dist="38100" dir="8100000" algn="bl" rotWithShape="0">
              <a:srgbClr val="000000">
                <a:alpha val="25000"/>
              </a:srgbClr>
            </a:outerShdw>
          </a:effectLst>
        </p:spPr>
        <p:txBody>
          <a:bodyPr/>
          <a:lstStyle/>
          <a:p>
            <a:endParaRPr lang="en-US"/>
          </a:p>
        </p:txBody>
      </p:sp>
      <p:sp>
        <p:nvSpPr>
          <p:cNvPr id="15" name="Text 13"/>
          <p:cNvSpPr/>
          <p:nvPr/>
        </p:nvSpPr>
        <p:spPr>
          <a:xfrm>
            <a:off x="4846320" y="2953512"/>
            <a:ext cx="3840480" cy="292608"/>
          </a:xfrm>
          <a:prstGeom prst="rect">
            <a:avLst/>
          </a:prstGeom>
          <a:noFill/>
          <a:ln/>
        </p:spPr>
        <p:txBody>
          <a:bodyPr wrap="square"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Infrastructure</a:t>
            </a:r>
            <a:endParaRPr lang="en-US" sz="1300" dirty="0"/>
          </a:p>
        </p:txBody>
      </p:sp>
      <p:sp>
        <p:nvSpPr>
          <p:cNvPr id="16" name="Text 14"/>
          <p:cNvSpPr/>
          <p:nvPr/>
        </p:nvSpPr>
        <p:spPr>
          <a:xfrm>
            <a:off x="4846320" y="3300984"/>
            <a:ext cx="3886200" cy="1170432"/>
          </a:xfrm>
          <a:prstGeom prst="rect">
            <a:avLst/>
          </a:prstGeom>
          <a:noFill/>
          <a:ln/>
        </p:spPr>
        <p:txBody>
          <a:bodyPr wrap="square" rtlCol="0" anchor="t"/>
          <a:lstStyle/>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Suricata EVE JSON ingestion</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Streamlit web dashboard</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Parquet + JSON output</a:t>
            </a:r>
            <a:endParaRPr lang="en-US" sz="1100" dirty="0"/>
          </a:p>
          <a:p>
            <a:pPr marL="171450" indent="-171450">
              <a:lnSpc>
                <a:spcPct val="130000"/>
              </a:lnSpc>
              <a:buFont typeface="Arial" panose="020B0604020202020204" pitchFamily="34" charset="0"/>
              <a:buChar char="•"/>
            </a:pPr>
            <a:r>
              <a:rPr lang="en-US" sz="1100" dirty="0">
                <a:solidFill>
                  <a:srgbClr val="E8F0F8"/>
                </a:solidFill>
                <a:ea typeface="Calibri" pitchFamily="34" charset="-122"/>
                <a:cs typeface="Calibri" pitchFamily="34" charset="-120"/>
              </a:rPr>
              <a:t>Python modular pipeline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93B"/>
          </a:solidFill>
          <a:ln w="12700">
            <a:solidFill>
              <a:srgbClr val="1E293B"/>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SYNTHETIC TEST DATASET</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200" b="1" dirty="0">
                <a:solidFill>
                  <a:srgbClr val="E8F0F8"/>
                </a:solidFill>
                <a:latin typeface="Calibri" pitchFamily="34" charset="0"/>
                <a:ea typeface="Calibri" pitchFamily="34" charset="-122"/>
                <a:cs typeface="Calibri" pitchFamily="34" charset="-120"/>
              </a:rPr>
              <a:t>100,000 Alerts · 20 Known Campaigns · 21,050 Noise Alerts</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390488307"/>
              </p:ext>
            </p:extLst>
          </p:nvPr>
        </p:nvGraphicFramePr>
        <p:xfrm>
          <a:off x="228600" y="1042416"/>
          <a:ext cx="4069080" cy="3067812"/>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tblGrid>
              <a:tr h="27889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Campaign</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src_ip</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Alerts</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Sev</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SSH brute-force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192.168.10.5</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6,000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RDP brute-force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192.168.10.6</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5,000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FTP brute-force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192.168.10.7</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2,500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Telnet brute-force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192.168.10.8</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Nmap TCP port scan</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192.168.20.1</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ICMP ping sweep</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192.168.20.2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UDP service discovery</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192.168.20.3</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1,200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Log4Shell exploit</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185.220.101.1</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4,000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b="0" dirty="0">
                          <a:solidFill>
                            <a:schemeClr val="tx1"/>
                          </a:solidFill>
                          <a:latin typeface="Calibri" pitchFamily="34" charset="0"/>
                          <a:ea typeface="Calibri" pitchFamily="34" charset="-122"/>
                          <a:cs typeface="Calibri" pitchFamily="34" charset="-120"/>
                        </a:rPr>
                        <a:t>1 </a:t>
                      </a:r>
                      <a:endParaRPr lang="en-US" sz="950" b="0" dirty="0">
                        <a:solidFill>
                          <a:schemeClr val="tx1"/>
                        </a:solidFill>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SQL injection</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185.220.101.5</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6,000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b="0" dirty="0">
                          <a:solidFill>
                            <a:schemeClr val="tx1"/>
                          </a:solidFill>
                          <a:latin typeface="Calibri" pitchFamily="34" charset="0"/>
                          <a:ea typeface="Calibri" pitchFamily="34" charset="-122"/>
                          <a:cs typeface="Calibri" pitchFamily="34" charset="-120"/>
                        </a:rPr>
                        <a:t>1 </a:t>
                      </a:r>
                      <a:endParaRPr lang="en-US" sz="950" b="0" dirty="0">
                        <a:solidFill>
                          <a:schemeClr val="tx1"/>
                        </a:solidFill>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XSS / web app attack</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185.220.101.6</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3,000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10"/>
                  </a:ext>
                </a:extLst>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3844511892"/>
              </p:ext>
            </p:extLst>
          </p:nvPr>
        </p:nvGraphicFramePr>
        <p:xfrm>
          <a:off x="4663440" y="1042416"/>
          <a:ext cx="4069080" cy="3067812"/>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tblGrid>
              <a:tr h="27889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Campaign</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src_ip</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Alerts</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Sev</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Cobalt Strike C2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10.0.0.77</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8,000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b="0" dirty="0">
                          <a:solidFill>
                            <a:schemeClr val="tx1"/>
                          </a:solidFill>
                          <a:latin typeface="Calibri" pitchFamily="34" charset="0"/>
                          <a:ea typeface="Calibri" pitchFamily="34" charset="-122"/>
                          <a:cs typeface="Calibri" pitchFamily="34" charset="-120"/>
                        </a:rPr>
                        <a:t>1 </a:t>
                      </a:r>
                      <a:endParaRPr lang="en-US" sz="950" b="0" dirty="0">
                        <a:solidFill>
                          <a:schemeClr val="tx1"/>
                        </a:solidFill>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Emotet C2 callbacks</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10.0.0.78</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5,000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b="0" dirty="0">
                          <a:solidFill>
                            <a:schemeClr val="tx1"/>
                          </a:solidFill>
                          <a:latin typeface="Calibri" pitchFamily="34" charset="0"/>
                          <a:ea typeface="Calibri" pitchFamily="34" charset="-122"/>
                          <a:cs typeface="Calibri" pitchFamily="34" charset="-120"/>
                        </a:rPr>
                        <a:t>1 </a:t>
                      </a:r>
                      <a:endParaRPr lang="en-US" sz="950" b="0" dirty="0">
                        <a:solidFill>
                          <a:schemeClr val="tx1"/>
                        </a:solidFill>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SMB / EternalBlue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10.0.0.20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6,000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b="0" dirty="0">
                          <a:solidFill>
                            <a:schemeClr val="tx1"/>
                          </a:solidFill>
                          <a:latin typeface="Calibri" pitchFamily="34" charset="0"/>
                          <a:ea typeface="Calibri" pitchFamily="34" charset="-122"/>
                          <a:cs typeface="Calibri" pitchFamily="34" charset="-120"/>
                        </a:rPr>
                        <a:t>1 </a:t>
                      </a:r>
                      <a:endParaRPr lang="en-US" sz="950" b="0" dirty="0">
                        <a:solidFill>
                          <a:schemeClr val="tx1"/>
                        </a:solidFill>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WMI/DCOM lateral</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10.0.0.21</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2,500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b="0" dirty="0">
                          <a:solidFill>
                            <a:schemeClr val="tx1"/>
                          </a:solidFill>
                          <a:latin typeface="Calibri" pitchFamily="34" charset="0"/>
                          <a:ea typeface="Calibri" pitchFamily="34" charset="-122"/>
                          <a:cs typeface="Calibri" pitchFamily="34" charset="-120"/>
                        </a:rPr>
                        <a:t>1 </a:t>
                      </a:r>
                      <a:endParaRPr lang="en-US" sz="950" b="0" dirty="0">
                        <a:solidFill>
                          <a:schemeClr val="tx1"/>
                        </a:solidFill>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DNS tunnelling / DGA</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192.168.30.1</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4,000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Data exfiltration</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10.0.0.88</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3,000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Tor anonymisation</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10.0.0.99</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Cryptomining</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10.0.0.111</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2,500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Shellshock RCE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45.33.32.156</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3,000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b="0" dirty="0">
                          <a:solidFill>
                            <a:schemeClr val="tx1"/>
                          </a:solidFill>
                          <a:latin typeface="Calibri" pitchFamily="34" charset="0"/>
                          <a:ea typeface="Calibri" pitchFamily="34" charset="-122"/>
                          <a:cs typeface="Calibri" pitchFamily="34" charset="-120"/>
                        </a:rPr>
                        <a:t>1 </a:t>
                      </a:r>
                      <a:endParaRPr lang="en-US" sz="950" b="0" dirty="0">
                        <a:solidFill>
                          <a:schemeClr val="tx1"/>
                        </a:solidFill>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8892">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PrintNightmare</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10.0.0.22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dirty="0">
                          <a:solidFill>
                            <a:srgbClr val="1E293B"/>
                          </a:solidFill>
                          <a:latin typeface="Calibri" pitchFamily="34" charset="0"/>
                          <a:ea typeface="Calibri" pitchFamily="34" charset="-122"/>
                          <a:cs typeface="Calibri" pitchFamily="34" charset="-120"/>
                        </a:rPr>
                        <a:t>3,000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950" b="0" dirty="0">
                          <a:solidFill>
                            <a:schemeClr val="tx1"/>
                          </a:solidFill>
                          <a:latin typeface="Calibri" pitchFamily="34" charset="0"/>
                          <a:ea typeface="Calibri" pitchFamily="34" charset="-122"/>
                          <a:cs typeface="Calibri" pitchFamily="34" charset="-120"/>
                        </a:rPr>
                        <a:t>1 </a:t>
                      </a:r>
                      <a:endParaRPr lang="en-US" sz="950" b="0" dirty="0">
                        <a:solidFill>
                          <a:schemeClr val="tx1"/>
                        </a:solidFill>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1B22"/>
          </a:solidFill>
          <a:ln w="12700">
            <a:solidFill>
              <a:srgbClr val="161B22"/>
            </a:solidFill>
            <a:prstDash val="solid"/>
          </a:ln>
        </p:spPr>
        <p:txBody>
          <a:bodyPr/>
          <a:lstStyle/>
          <a:p>
            <a:endParaRPr lang="en-US"/>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600" b="1" dirty="0">
                <a:solidFill>
                  <a:srgbClr val="E8F0F8"/>
                </a:solidFill>
                <a:latin typeface="Calibri" pitchFamily="34" charset="0"/>
                <a:ea typeface="Calibri" pitchFamily="34" charset="-122"/>
                <a:cs typeface="Calibri" pitchFamily="34" charset="-120"/>
              </a:rPr>
              <a:t>Benchmark Results</a:t>
            </a:r>
            <a:endParaRPr lang="en-US" sz="2600" dirty="0"/>
          </a:p>
        </p:txBody>
      </p:sp>
      <p:sp>
        <p:nvSpPr>
          <p:cNvPr id="5" name="Shape 3"/>
          <p:cNvSpPr/>
          <p:nvPr/>
        </p:nvSpPr>
        <p:spPr>
          <a:xfrm>
            <a:off x="274320" y="1078992"/>
            <a:ext cx="2057400" cy="1417320"/>
          </a:xfrm>
          <a:prstGeom prst="rect">
            <a:avLst/>
          </a:prstGeom>
          <a:solidFill>
            <a:srgbClr val="1C2333"/>
          </a:solidFill>
          <a:ln w="19050">
            <a:solidFill>
              <a:srgbClr val="00E87A"/>
            </a:solidFill>
            <a:prstDash val="solid"/>
          </a:ln>
          <a:effectLst>
            <a:outerShdw blurRad="127000" dist="38100" dir="8100000" algn="bl" rotWithShape="0">
              <a:srgbClr val="000000">
                <a:alpha val="25000"/>
              </a:srgbClr>
            </a:outerShdw>
          </a:effectLst>
        </p:spPr>
        <p:txBody>
          <a:bodyPr/>
          <a:lstStyle/>
          <a:p>
            <a:endParaRPr lang="en-US"/>
          </a:p>
        </p:txBody>
      </p:sp>
      <p:sp>
        <p:nvSpPr>
          <p:cNvPr id="6" name="Text 4"/>
          <p:cNvSpPr/>
          <p:nvPr/>
        </p:nvSpPr>
        <p:spPr>
          <a:xfrm>
            <a:off x="274320" y="1170432"/>
            <a:ext cx="2057400" cy="685800"/>
          </a:xfrm>
          <a:prstGeom prst="rect">
            <a:avLst/>
          </a:prstGeom>
          <a:noFill/>
          <a:ln/>
        </p:spPr>
        <p:txBody>
          <a:bodyPr wrap="square" rtlCol="0" anchor="ctr"/>
          <a:lstStyle/>
          <a:p>
            <a:pPr marL="0" indent="0" algn="ctr">
              <a:buNone/>
            </a:pPr>
            <a:r>
              <a:rPr lang="en-US" sz="3000" b="1" dirty="0">
                <a:solidFill>
                  <a:srgbClr val="00E87A"/>
                </a:solidFill>
                <a:latin typeface="Calibri" pitchFamily="34" charset="0"/>
                <a:ea typeface="Calibri" pitchFamily="34" charset="-122"/>
                <a:cs typeface="Calibri" pitchFamily="34" charset="-120"/>
              </a:rPr>
              <a:t>20 / 20</a:t>
            </a:r>
            <a:endParaRPr lang="en-US" sz="3000" dirty="0"/>
          </a:p>
        </p:txBody>
      </p:sp>
      <p:sp>
        <p:nvSpPr>
          <p:cNvPr id="7" name="Text 5"/>
          <p:cNvSpPr/>
          <p:nvPr/>
        </p:nvSpPr>
        <p:spPr>
          <a:xfrm>
            <a:off x="274320" y="1828800"/>
            <a:ext cx="2057400" cy="59436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Campaigns</a:t>
            </a:r>
            <a:endParaRPr lang="en-US" sz="1050" dirty="0"/>
          </a:p>
          <a:p>
            <a:pPr marL="0" indent="0" algn="ctr">
              <a:buNone/>
            </a:pPr>
            <a:r>
              <a:rPr lang="en-US" sz="1050" dirty="0">
                <a:solidFill>
                  <a:srgbClr val="94A3B8"/>
                </a:solidFill>
                <a:latin typeface="Calibri" pitchFamily="34" charset="0"/>
                <a:ea typeface="Calibri" pitchFamily="34" charset="-122"/>
                <a:cs typeface="Calibri" pitchFamily="34" charset="-120"/>
              </a:rPr>
              <a:t>Recovered</a:t>
            </a:r>
            <a:endParaRPr lang="en-US" sz="1050" dirty="0"/>
          </a:p>
        </p:txBody>
      </p:sp>
      <p:sp>
        <p:nvSpPr>
          <p:cNvPr id="8" name="Shape 6"/>
          <p:cNvSpPr/>
          <p:nvPr/>
        </p:nvSpPr>
        <p:spPr>
          <a:xfrm>
            <a:off x="2423160" y="1078992"/>
            <a:ext cx="2057400" cy="1417320"/>
          </a:xfrm>
          <a:prstGeom prst="rect">
            <a:avLst/>
          </a:prstGeom>
          <a:solidFill>
            <a:srgbClr val="1C2333"/>
          </a:solidFill>
          <a:ln w="19050">
            <a:solidFill>
              <a:srgbClr val="00D4FF"/>
            </a:solidFill>
            <a:prstDash val="solid"/>
          </a:ln>
          <a:effectLst>
            <a:outerShdw blurRad="127000" dist="38100" dir="8100000" algn="bl" rotWithShape="0">
              <a:srgbClr val="000000">
                <a:alpha val="25000"/>
              </a:srgbClr>
            </a:outerShdw>
          </a:effectLst>
        </p:spPr>
        <p:txBody>
          <a:bodyPr/>
          <a:lstStyle/>
          <a:p>
            <a:endParaRPr lang="en-US"/>
          </a:p>
        </p:txBody>
      </p:sp>
      <p:sp>
        <p:nvSpPr>
          <p:cNvPr id="9" name="Text 7"/>
          <p:cNvSpPr/>
          <p:nvPr/>
        </p:nvSpPr>
        <p:spPr>
          <a:xfrm>
            <a:off x="2423160" y="1170432"/>
            <a:ext cx="2057400" cy="685800"/>
          </a:xfrm>
          <a:prstGeom prst="rect">
            <a:avLst/>
          </a:prstGeom>
          <a:noFill/>
          <a:ln/>
        </p:spPr>
        <p:txBody>
          <a:bodyPr wrap="square" rtlCol="0" anchor="ctr"/>
          <a:lstStyle/>
          <a:p>
            <a:pPr marL="0" indent="0" algn="ctr">
              <a:buNone/>
            </a:pPr>
            <a:r>
              <a:rPr lang="en-US" sz="3000" b="1" dirty="0">
                <a:solidFill>
                  <a:srgbClr val="00D4FF"/>
                </a:solidFill>
                <a:latin typeface="Calibri" pitchFamily="34" charset="0"/>
                <a:ea typeface="Calibri" pitchFamily="34" charset="-122"/>
                <a:cs typeface="Calibri" pitchFamily="34" charset="-120"/>
              </a:rPr>
              <a:t>80,200</a:t>
            </a:r>
            <a:endParaRPr lang="en-US" sz="3000" dirty="0"/>
          </a:p>
        </p:txBody>
      </p:sp>
      <p:sp>
        <p:nvSpPr>
          <p:cNvPr id="10" name="Text 8"/>
          <p:cNvSpPr/>
          <p:nvPr/>
        </p:nvSpPr>
        <p:spPr>
          <a:xfrm>
            <a:off x="2423160" y="1828800"/>
            <a:ext cx="2057400" cy="59436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Alerts</a:t>
            </a:r>
            <a:endParaRPr lang="en-US" sz="1050" dirty="0"/>
          </a:p>
          <a:p>
            <a:pPr marL="0" indent="0" algn="ctr">
              <a:buNone/>
            </a:pPr>
            <a:r>
              <a:rPr lang="en-US" sz="1050" dirty="0">
                <a:solidFill>
                  <a:srgbClr val="94A3B8"/>
                </a:solidFill>
                <a:latin typeface="Calibri" pitchFamily="34" charset="0"/>
                <a:ea typeface="Calibri" pitchFamily="34" charset="-122"/>
                <a:cs typeface="Calibri" pitchFamily="34" charset="-120"/>
              </a:rPr>
              <a:t>Clustered</a:t>
            </a:r>
            <a:endParaRPr lang="en-US" sz="1050" dirty="0"/>
          </a:p>
        </p:txBody>
      </p:sp>
      <p:sp>
        <p:nvSpPr>
          <p:cNvPr id="11" name="Shape 9"/>
          <p:cNvSpPr/>
          <p:nvPr/>
        </p:nvSpPr>
        <p:spPr>
          <a:xfrm>
            <a:off x="4572000" y="1078992"/>
            <a:ext cx="2057400" cy="1417320"/>
          </a:xfrm>
          <a:prstGeom prst="rect">
            <a:avLst/>
          </a:prstGeom>
          <a:solidFill>
            <a:srgbClr val="1C2333"/>
          </a:solidFill>
          <a:ln w="19050">
            <a:solidFill>
              <a:srgbClr val="FFB703"/>
            </a:solidFill>
            <a:prstDash val="solid"/>
          </a:ln>
          <a:effectLst>
            <a:outerShdw blurRad="127000" dist="38100" dir="8100000" algn="bl" rotWithShape="0">
              <a:srgbClr val="000000">
                <a:alpha val="25000"/>
              </a:srgbClr>
            </a:outerShdw>
          </a:effectLst>
        </p:spPr>
        <p:txBody>
          <a:bodyPr/>
          <a:lstStyle/>
          <a:p>
            <a:endParaRPr lang="en-US"/>
          </a:p>
        </p:txBody>
      </p:sp>
      <p:sp>
        <p:nvSpPr>
          <p:cNvPr id="12" name="Text 10"/>
          <p:cNvSpPr/>
          <p:nvPr/>
        </p:nvSpPr>
        <p:spPr>
          <a:xfrm>
            <a:off x="4572000" y="1170432"/>
            <a:ext cx="2057400" cy="685800"/>
          </a:xfrm>
          <a:prstGeom prst="rect">
            <a:avLst/>
          </a:prstGeom>
          <a:noFill/>
          <a:ln/>
        </p:spPr>
        <p:txBody>
          <a:bodyPr wrap="square" rtlCol="0" anchor="ctr"/>
          <a:lstStyle/>
          <a:p>
            <a:pPr marL="0" indent="0" algn="ctr">
              <a:buNone/>
            </a:pPr>
            <a:r>
              <a:rPr lang="en-US" sz="3000" b="1" dirty="0">
                <a:solidFill>
                  <a:srgbClr val="FFB703"/>
                </a:solidFill>
                <a:latin typeface="Calibri" pitchFamily="34" charset="0"/>
                <a:ea typeface="Calibri" pitchFamily="34" charset="-122"/>
                <a:cs typeface="Calibri" pitchFamily="34" charset="-120"/>
              </a:rPr>
              <a:t>100%</a:t>
            </a:r>
            <a:endParaRPr lang="en-US" sz="3000" dirty="0"/>
          </a:p>
        </p:txBody>
      </p:sp>
      <p:sp>
        <p:nvSpPr>
          <p:cNvPr id="13" name="Text 11"/>
          <p:cNvSpPr/>
          <p:nvPr/>
        </p:nvSpPr>
        <p:spPr>
          <a:xfrm>
            <a:off x="4572000" y="1828800"/>
            <a:ext cx="2057400" cy="59436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Clustering</a:t>
            </a:r>
            <a:endParaRPr lang="en-US" sz="1050" dirty="0"/>
          </a:p>
          <a:p>
            <a:pPr marL="0" indent="0" algn="ctr">
              <a:buNone/>
            </a:pPr>
            <a:r>
              <a:rPr lang="en-US" sz="1050" dirty="0">
                <a:solidFill>
                  <a:srgbClr val="94A3B8"/>
                </a:solidFill>
                <a:latin typeface="Calibri" pitchFamily="34" charset="0"/>
                <a:ea typeface="Calibri" pitchFamily="34" charset="-122"/>
                <a:cs typeface="Calibri" pitchFamily="34" charset="-120"/>
              </a:rPr>
              <a:t>Coverage</a:t>
            </a:r>
            <a:endParaRPr lang="en-US" sz="1050" dirty="0"/>
          </a:p>
        </p:txBody>
      </p:sp>
      <p:sp>
        <p:nvSpPr>
          <p:cNvPr id="14" name="Shape 12"/>
          <p:cNvSpPr/>
          <p:nvPr/>
        </p:nvSpPr>
        <p:spPr>
          <a:xfrm>
            <a:off x="6720840" y="1078992"/>
            <a:ext cx="2057400" cy="1417320"/>
          </a:xfrm>
          <a:prstGeom prst="rect">
            <a:avLst/>
          </a:prstGeom>
          <a:solidFill>
            <a:srgbClr val="1C2333"/>
          </a:solidFill>
          <a:ln w="19050">
            <a:solidFill>
              <a:srgbClr val="FF7C3A"/>
            </a:solidFill>
            <a:prstDash val="solid"/>
          </a:ln>
          <a:effectLst>
            <a:outerShdw blurRad="127000" dist="38100" dir="8100000" algn="bl" rotWithShape="0">
              <a:srgbClr val="000000">
                <a:alpha val="25000"/>
              </a:srgbClr>
            </a:outerShdw>
          </a:effectLst>
        </p:spPr>
        <p:txBody>
          <a:bodyPr/>
          <a:lstStyle/>
          <a:p>
            <a:endParaRPr lang="en-US"/>
          </a:p>
        </p:txBody>
      </p:sp>
      <p:sp>
        <p:nvSpPr>
          <p:cNvPr id="15" name="Text 13"/>
          <p:cNvSpPr/>
          <p:nvPr/>
        </p:nvSpPr>
        <p:spPr>
          <a:xfrm>
            <a:off x="6720840" y="1170432"/>
            <a:ext cx="2057400" cy="685800"/>
          </a:xfrm>
          <a:prstGeom prst="rect">
            <a:avLst/>
          </a:prstGeom>
          <a:noFill/>
          <a:ln/>
        </p:spPr>
        <p:txBody>
          <a:bodyPr wrap="square" rtlCol="0" anchor="ctr"/>
          <a:lstStyle/>
          <a:p>
            <a:pPr marL="0" indent="0" algn="ctr">
              <a:buNone/>
            </a:pPr>
            <a:r>
              <a:rPr lang="en-US" sz="3000" b="1" dirty="0">
                <a:solidFill>
                  <a:srgbClr val="FF7C3A"/>
                </a:solidFill>
                <a:latin typeface="Calibri" pitchFamily="34" charset="0"/>
                <a:ea typeface="Calibri" pitchFamily="34" charset="-122"/>
                <a:cs typeface="Calibri" pitchFamily="34" charset="-120"/>
              </a:rPr>
              <a:t>4,010:1</a:t>
            </a:r>
            <a:endParaRPr lang="en-US" sz="3000" dirty="0"/>
          </a:p>
        </p:txBody>
      </p:sp>
      <p:sp>
        <p:nvSpPr>
          <p:cNvPr id="16" name="Text 14"/>
          <p:cNvSpPr/>
          <p:nvPr/>
        </p:nvSpPr>
        <p:spPr>
          <a:xfrm>
            <a:off x="6720840" y="1828800"/>
            <a:ext cx="2057400" cy="59436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Alert / Incident</a:t>
            </a:r>
            <a:endParaRPr lang="en-US" sz="1050" dirty="0"/>
          </a:p>
          <a:p>
            <a:pPr marL="0" indent="0" algn="ctr">
              <a:buNone/>
            </a:pPr>
            <a:r>
              <a:rPr lang="en-US" sz="1050" dirty="0">
                <a:solidFill>
                  <a:srgbClr val="94A3B8"/>
                </a:solidFill>
                <a:latin typeface="Calibri" pitchFamily="34" charset="0"/>
                <a:ea typeface="Calibri" pitchFamily="34" charset="-122"/>
                <a:cs typeface="Calibri" pitchFamily="34" charset="-120"/>
              </a:rPr>
              <a:t>Compression</a:t>
            </a:r>
            <a:endParaRPr lang="en-US" sz="1050" dirty="0"/>
          </a:p>
        </p:txBody>
      </p:sp>
      <p:sp>
        <p:nvSpPr>
          <p:cNvPr id="18" name="Shape 15"/>
          <p:cNvSpPr/>
          <p:nvPr/>
        </p:nvSpPr>
        <p:spPr>
          <a:xfrm>
            <a:off x="5120640" y="2845091"/>
            <a:ext cx="274320" cy="274320"/>
          </a:xfrm>
          <a:prstGeom prst="rect">
            <a:avLst/>
          </a:prstGeom>
          <a:solidFill>
            <a:srgbClr val="00E87A"/>
          </a:solidFill>
          <a:ln w="12700">
            <a:solidFill>
              <a:srgbClr val="00E87A"/>
            </a:solidFill>
            <a:prstDash val="solid"/>
          </a:ln>
        </p:spPr>
        <p:txBody>
          <a:bodyPr/>
          <a:lstStyle/>
          <a:p>
            <a:endParaRPr lang="en-US"/>
          </a:p>
        </p:txBody>
      </p:sp>
      <p:sp>
        <p:nvSpPr>
          <p:cNvPr id="19" name="Text 16"/>
          <p:cNvSpPr/>
          <p:nvPr/>
        </p:nvSpPr>
        <p:spPr>
          <a:xfrm>
            <a:off x="5120640" y="2854235"/>
            <a:ext cx="274320" cy="274320"/>
          </a:xfrm>
          <a:prstGeom prst="rect">
            <a:avLst/>
          </a:prstGeom>
          <a:noFill/>
          <a:ln/>
        </p:spPr>
        <p:txBody>
          <a:bodyPr wrap="square" lIns="0" tIns="0" rIns="0" bIns="0"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a:t>
            </a:r>
            <a:endParaRPr lang="en-US" sz="1200" dirty="0"/>
          </a:p>
        </p:txBody>
      </p:sp>
      <p:sp>
        <p:nvSpPr>
          <p:cNvPr id="20" name="Text 17"/>
          <p:cNvSpPr/>
          <p:nvPr/>
        </p:nvSpPr>
        <p:spPr>
          <a:xfrm>
            <a:off x="5486400" y="2869257"/>
            <a:ext cx="3474720" cy="25603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Every campaign returned exactly 1 incident. No splits and no merges</a:t>
            </a:r>
            <a:endParaRPr lang="en-US" sz="1100" dirty="0"/>
          </a:p>
        </p:txBody>
      </p:sp>
      <p:sp>
        <p:nvSpPr>
          <p:cNvPr id="21" name="Shape 18"/>
          <p:cNvSpPr/>
          <p:nvPr/>
        </p:nvSpPr>
        <p:spPr>
          <a:xfrm>
            <a:off x="5120640" y="3300984"/>
            <a:ext cx="274320" cy="274320"/>
          </a:xfrm>
          <a:prstGeom prst="rect">
            <a:avLst/>
          </a:prstGeom>
          <a:solidFill>
            <a:srgbClr val="00E87A"/>
          </a:solidFill>
          <a:ln w="12700">
            <a:solidFill>
              <a:srgbClr val="00E87A"/>
            </a:solidFill>
            <a:prstDash val="solid"/>
          </a:ln>
        </p:spPr>
        <p:txBody>
          <a:bodyPr/>
          <a:lstStyle/>
          <a:p>
            <a:endParaRPr lang="en-US"/>
          </a:p>
        </p:txBody>
      </p:sp>
      <p:sp>
        <p:nvSpPr>
          <p:cNvPr id="22" name="Text 19"/>
          <p:cNvSpPr/>
          <p:nvPr/>
        </p:nvSpPr>
        <p:spPr>
          <a:xfrm>
            <a:off x="5120640" y="3300984"/>
            <a:ext cx="274320" cy="274320"/>
          </a:xfrm>
          <a:prstGeom prst="rect">
            <a:avLst/>
          </a:prstGeom>
          <a:noFill/>
          <a:ln/>
        </p:spPr>
        <p:txBody>
          <a:bodyPr wrap="square" lIns="0" tIns="0" rIns="0" bIns="0"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a:t>
            </a:r>
            <a:endParaRPr lang="en-US" sz="1200" dirty="0"/>
          </a:p>
        </p:txBody>
      </p:sp>
      <p:sp>
        <p:nvSpPr>
          <p:cNvPr id="23" name="Text 20"/>
          <p:cNvSpPr/>
          <p:nvPr/>
        </p:nvSpPr>
        <p:spPr>
          <a:xfrm>
            <a:off x="5486400" y="3308169"/>
            <a:ext cx="3474720" cy="25603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0 noise alerts left un-clustered, 100% coverage</a:t>
            </a:r>
            <a:endParaRPr lang="en-US" sz="1100" dirty="0"/>
          </a:p>
        </p:txBody>
      </p:sp>
      <p:sp>
        <p:nvSpPr>
          <p:cNvPr id="24" name="Shape 21"/>
          <p:cNvSpPr/>
          <p:nvPr/>
        </p:nvSpPr>
        <p:spPr>
          <a:xfrm>
            <a:off x="5120640" y="3717036"/>
            <a:ext cx="274320" cy="274320"/>
          </a:xfrm>
          <a:prstGeom prst="rect">
            <a:avLst/>
          </a:prstGeom>
          <a:solidFill>
            <a:srgbClr val="00D4FF"/>
          </a:solidFill>
          <a:ln w="12700">
            <a:solidFill>
              <a:srgbClr val="00D4FF"/>
            </a:solidFill>
            <a:prstDash val="solid"/>
          </a:ln>
        </p:spPr>
        <p:txBody>
          <a:bodyPr/>
          <a:lstStyle/>
          <a:p>
            <a:endParaRPr lang="en-US"/>
          </a:p>
        </p:txBody>
      </p:sp>
      <p:sp>
        <p:nvSpPr>
          <p:cNvPr id="25" name="Text 22"/>
          <p:cNvSpPr/>
          <p:nvPr/>
        </p:nvSpPr>
        <p:spPr>
          <a:xfrm>
            <a:off x="5120640" y="3707892"/>
            <a:ext cx="274320" cy="274320"/>
          </a:xfrm>
          <a:prstGeom prst="rect">
            <a:avLst/>
          </a:prstGeom>
          <a:noFill/>
          <a:ln/>
        </p:spPr>
        <p:txBody>
          <a:bodyPr wrap="square" lIns="0" tIns="0" rIns="0" bIns="0"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a:t>
            </a:r>
            <a:endParaRPr lang="en-US" sz="1200" dirty="0"/>
          </a:p>
        </p:txBody>
      </p:sp>
      <p:sp>
        <p:nvSpPr>
          <p:cNvPr id="27" name="Shape 24"/>
          <p:cNvSpPr/>
          <p:nvPr/>
        </p:nvSpPr>
        <p:spPr>
          <a:xfrm>
            <a:off x="5120640" y="4142232"/>
            <a:ext cx="274320" cy="274320"/>
          </a:xfrm>
          <a:prstGeom prst="rect">
            <a:avLst/>
          </a:prstGeom>
          <a:solidFill>
            <a:srgbClr val="00D4FF"/>
          </a:solidFill>
          <a:ln w="12700">
            <a:solidFill>
              <a:srgbClr val="00D4FF"/>
            </a:solidFill>
            <a:prstDash val="solid"/>
          </a:ln>
        </p:spPr>
        <p:txBody>
          <a:bodyPr/>
          <a:lstStyle/>
          <a:p>
            <a:endParaRPr lang="en-US"/>
          </a:p>
        </p:txBody>
      </p:sp>
      <p:sp>
        <p:nvSpPr>
          <p:cNvPr id="28" name="Text 25"/>
          <p:cNvSpPr/>
          <p:nvPr/>
        </p:nvSpPr>
        <p:spPr>
          <a:xfrm>
            <a:off x="5120640" y="4142232"/>
            <a:ext cx="274320" cy="274320"/>
          </a:xfrm>
          <a:prstGeom prst="rect">
            <a:avLst/>
          </a:prstGeom>
          <a:noFill/>
          <a:ln/>
        </p:spPr>
        <p:txBody>
          <a:bodyPr wrap="square" lIns="0" tIns="0" rIns="0" bIns="0" rtlCol="0" anchor="ctr"/>
          <a:lstStyle/>
          <a:p>
            <a:pPr marL="0" indent="0" algn="ctr">
              <a:buNone/>
            </a:pPr>
            <a:r>
              <a:rPr lang="en-US" sz="1200" b="1" dirty="0">
                <a:solidFill>
                  <a:srgbClr val="0D1117"/>
                </a:solidFill>
                <a:latin typeface="Calibri" pitchFamily="34" charset="0"/>
                <a:ea typeface="Calibri" pitchFamily="34" charset="-122"/>
                <a:cs typeface="Calibri" pitchFamily="34" charset="-120"/>
              </a:rPr>
              <a:t>✓</a:t>
            </a:r>
            <a:endParaRPr lang="en-US" sz="1200" dirty="0"/>
          </a:p>
        </p:txBody>
      </p:sp>
      <p:sp>
        <p:nvSpPr>
          <p:cNvPr id="29" name="Text 26"/>
          <p:cNvSpPr/>
          <p:nvPr/>
        </p:nvSpPr>
        <p:spPr>
          <a:xfrm>
            <a:off x="5486400" y="3717036"/>
            <a:ext cx="3474720" cy="25603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Reproducible: same output on repeated runs from embedding cache</a:t>
            </a:r>
            <a:endParaRPr lang="en-US" sz="1100" dirty="0"/>
          </a:p>
        </p:txBody>
      </p:sp>
      <p:sp>
        <p:nvSpPr>
          <p:cNvPr id="32" name="Text 29"/>
          <p:cNvSpPr/>
          <p:nvPr/>
        </p:nvSpPr>
        <p:spPr>
          <a:xfrm>
            <a:off x="5473337" y="4151376"/>
            <a:ext cx="3474720" cy="256032"/>
          </a:xfrm>
          <a:prstGeom prst="rect">
            <a:avLst/>
          </a:prstGeom>
          <a:noFill/>
          <a:ln/>
        </p:spPr>
        <p:txBody>
          <a:bodyPr wrap="square" rtlCol="0" anchor="ctr"/>
          <a:lstStyle/>
          <a:p>
            <a:pPr marL="0" indent="0">
              <a:buNone/>
            </a:pPr>
            <a:r>
              <a:rPr lang="en-US" sz="1100" dirty="0">
                <a:solidFill>
                  <a:srgbClr val="E8F0F8"/>
                </a:solidFill>
                <a:latin typeface="Calibri" pitchFamily="34" charset="0"/>
                <a:ea typeface="Calibri" pitchFamily="34" charset="-122"/>
                <a:cs typeface="Calibri" pitchFamily="34" charset="-120"/>
              </a:rPr>
              <a:t>Confirmed across small (965 alerts) and large (100k) synthetic datasets</a:t>
            </a:r>
            <a:endParaRPr lang="en-US" sz="1100" dirty="0"/>
          </a:p>
        </p:txBody>
      </p:sp>
      <p:pic>
        <p:nvPicPr>
          <p:cNvPr id="36" name="Picture 35">
            <a:extLst>
              <a:ext uri="{FF2B5EF4-FFF2-40B4-BE49-F238E27FC236}">
                <a16:creationId xmlns:a16="http://schemas.microsoft.com/office/drawing/2014/main" id="{A8ADFBE5-3E3D-F829-3366-EAEFEBA78170}"/>
              </a:ext>
            </a:extLst>
          </p:cNvPr>
          <p:cNvPicPr>
            <a:picLocks noChangeAspect="1"/>
          </p:cNvPicPr>
          <p:nvPr/>
        </p:nvPicPr>
        <p:blipFill>
          <a:blip r:embed="rId3"/>
          <a:stretch>
            <a:fillRect/>
          </a:stretch>
        </p:blipFill>
        <p:spPr>
          <a:xfrm>
            <a:off x="226608" y="2564156"/>
            <a:ext cx="4731392" cy="1190791"/>
          </a:xfrm>
          <a:prstGeom prst="rect">
            <a:avLst/>
          </a:prstGeom>
        </p:spPr>
      </p:pic>
      <p:pic>
        <p:nvPicPr>
          <p:cNvPr id="38" name="Picture 37">
            <a:extLst>
              <a:ext uri="{FF2B5EF4-FFF2-40B4-BE49-F238E27FC236}">
                <a16:creationId xmlns:a16="http://schemas.microsoft.com/office/drawing/2014/main" id="{DE5DB28D-645D-D102-831D-86CA67DD43FA}"/>
              </a:ext>
            </a:extLst>
          </p:cNvPr>
          <p:cNvPicPr>
            <a:picLocks noChangeAspect="1"/>
          </p:cNvPicPr>
          <p:nvPr/>
        </p:nvPicPr>
        <p:blipFill>
          <a:blip r:embed="rId4"/>
          <a:stretch>
            <a:fillRect/>
          </a:stretch>
        </p:blipFill>
        <p:spPr>
          <a:xfrm>
            <a:off x="226608" y="3707892"/>
            <a:ext cx="4731392" cy="9418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93B"/>
          </a:solidFill>
          <a:ln w="12700">
            <a:solidFill>
              <a:srgbClr val="1E293B"/>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STREAMLIT DASHBOARD</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600" b="1" dirty="0">
                <a:solidFill>
                  <a:srgbClr val="E8F0F8"/>
                </a:solidFill>
                <a:latin typeface="Calibri" pitchFamily="34" charset="0"/>
                <a:ea typeface="Calibri" pitchFamily="34" charset="-122"/>
                <a:cs typeface="Calibri" pitchFamily="34" charset="-120"/>
              </a:rPr>
              <a:t>Executive-Ready Interface</a:t>
            </a:r>
            <a:endParaRPr lang="en-US" sz="2600" dirty="0"/>
          </a:p>
        </p:txBody>
      </p:sp>
      <p:sp>
        <p:nvSpPr>
          <p:cNvPr id="5" name="Shape 3"/>
          <p:cNvSpPr/>
          <p:nvPr/>
        </p:nvSpPr>
        <p:spPr>
          <a:xfrm>
            <a:off x="228600" y="1078992"/>
            <a:ext cx="3931920" cy="74980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6" name="Shape 4"/>
          <p:cNvSpPr/>
          <p:nvPr/>
        </p:nvSpPr>
        <p:spPr>
          <a:xfrm>
            <a:off x="228600" y="1078992"/>
            <a:ext cx="54864" cy="749808"/>
          </a:xfrm>
          <a:prstGeom prst="rect">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384048" y="1152144"/>
            <a:ext cx="3657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Run Summary</a:t>
            </a:r>
            <a:endParaRPr lang="en-US" sz="1300" dirty="0"/>
          </a:p>
        </p:txBody>
      </p:sp>
      <p:sp>
        <p:nvSpPr>
          <p:cNvPr id="8" name="Text 6"/>
          <p:cNvSpPr/>
          <p:nvPr/>
        </p:nvSpPr>
        <p:spPr>
          <a:xfrm>
            <a:off x="384048" y="1380744"/>
            <a:ext cx="3657600" cy="329184"/>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Alert count, incident count, noise ratio, compression ratio</a:t>
            </a:r>
            <a:endParaRPr lang="en-US" sz="1100" dirty="0"/>
          </a:p>
        </p:txBody>
      </p:sp>
      <p:sp>
        <p:nvSpPr>
          <p:cNvPr id="9" name="Shape 7"/>
          <p:cNvSpPr/>
          <p:nvPr/>
        </p:nvSpPr>
        <p:spPr>
          <a:xfrm>
            <a:off x="228600" y="1938528"/>
            <a:ext cx="3931920" cy="74980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10" name="Shape 8"/>
          <p:cNvSpPr/>
          <p:nvPr/>
        </p:nvSpPr>
        <p:spPr>
          <a:xfrm>
            <a:off x="228600" y="1938528"/>
            <a:ext cx="54864" cy="749808"/>
          </a:xfrm>
          <a:prstGeom prst="rect">
            <a:avLst/>
          </a:prstGeom>
          <a:solidFill>
            <a:srgbClr val="00E87A"/>
          </a:solidFill>
          <a:ln w="12700">
            <a:solidFill>
              <a:srgbClr val="00E87A"/>
            </a:solidFill>
            <a:prstDash val="solid"/>
          </a:ln>
        </p:spPr>
        <p:txBody>
          <a:bodyPr/>
          <a:lstStyle/>
          <a:p>
            <a:endParaRPr lang="en-US"/>
          </a:p>
        </p:txBody>
      </p:sp>
      <p:sp>
        <p:nvSpPr>
          <p:cNvPr id="11" name="Text 9"/>
          <p:cNvSpPr/>
          <p:nvPr/>
        </p:nvSpPr>
        <p:spPr>
          <a:xfrm>
            <a:off x="384048" y="2011680"/>
            <a:ext cx="3657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Incident Cards</a:t>
            </a:r>
            <a:endParaRPr lang="en-US" sz="1300" dirty="0"/>
          </a:p>
        </p:txBody>
      </p:sp>
      <p:sp>
        <p:nvSpPr>
          <p:cNvPr id="12" name="Text 10"/>
          <p:cNvSpPr/>
          <p:nvPr/>
        </p:nvSpPr>
        <p:spPr>
          <a:xfrm>
            <a:off x="384048" y="2304288"/>
            <a:ext cx="3657600" cy="329184"/>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Expandable cards with all alerts, signatures, timelines, source/destination IPs, and ports</a:t>
            </a:r>
            <a:endParaRPr lang="en-US" sz="1100" dirty="0"/>
          </a:p>
        </p:txBody>
      </p:sp>
      <p:sp>
        <p:nvSpPr>
          <p:cNvPr id="13" name="Shape 11"/>
          <p:cNvSpPr/>
          <p:nvPr/>
        </p:nvSpPr>
        <p:spPr>
          <a:xfrm>
            <a:off x="228600" y="2798064"/>
            <a:ext cx="3931920" cy="74980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14" name="Shape 12"/>
          <p:cNvSpPr/>
          <p:nvPr/>
        </p:nvSpPr>
        <p:spPr>
          <a:xfrm>
            <a:off x="228600" y="2798064"/>
            <a:ext cx="54864" cy="749808"/>
          </a:xfrm>
          <a:prstGeom prst="rect">
            <a:avLst/>
          </a:prstGeom>
          <a:solidFill>
            <a:srgbClr val="FF7C3A"/>
          </a:solidFill>
          <a:ln w="12700">
            <a:solidFill>
              <a:srgbClr val="FF7C3A"/>
            </a:solidFill>
            <a:prstDash val="solid"/>
          </a:ln>
        </p:spPr>
        <p:txBody>
          <a:bodyPr/>
          <a:lstStyle/>
          <a:p>
            <a:endParaRPr lang="en-US"/>
          </a:p>
        </p:txBody>
      </p:sp>
      <p:sp>
        <p:nvSpPr>
          <p:cNvPr id="15" name="Text 13"/>
          <p:cNvSpPr/>
          <p:nvPr/>
        </p:nvSpPr>
        <p:spPr>
          <a:xfrm>
            <a:off x="384048" y="2871216"/>
            <a:ext cx="3657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Cluster Map</a:t>
            </a:r>
            <a:endParaRPr lang="en-US" sz="1300" dirty="0"/>
          </a:p>
        </p:txBody>
      </p:sp>
      <p:sp>
        <p:nvSpPr>
          <p:cNvPr id="16" name="Text 14"/>
          <p:cNvSpPr/>
          <p:nvPr/>
        </p:nvSpPr>
        <p:spPr>
          <a:xfrm>
            <a:off x="384048" y="3163824"/>
            <a:ext cx="3657600" cy="329184"/>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UMAP / PCA / t-SNE projection with per-incident colouring and hover drill-down</a:t>
            </a:r>
            <a:endParaRPr lang="en-US" sz="1100" dirty="0"/>
          </a:p>
        </p:txBody>
      </p:sp>
      <p:sp>
        <p:nvSpPr>
          <p:cNvPr id="17" name="Shape 15"/>
          <p:cNvSpPr/>
          <p:nvPr/>
        </p:nvSpPr>
        <p:spPr>
          <a:xfrm>
            <a:off x="228600" y="3657600"/>
            <a:ext cx="3931920" cy="749808"/>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18" name="Shape 16"/>
          <p:cNvSpPr/>
          <p:nvPr/>
        </p:nvSpPr>
        <p:spPr>
          <a:xfrm>
            <a:off x="228600" y="3657600"/>
            <a:ext cx="54864" cy="749808"/>
          </a:xfrm>
          <a:prstGeom prst="rect">
            <a:avLst/>
          </a:prstGeom>
          <a:solidFill>
            <a:srgbClr val="FFB703"/>
          </a:solidFill>
          <a:ln w="12700">
            <a:solidFill>
              <a:srgbClr val="FFB703"/>
            </a:solidFill>
            <a:prstDash val="solid"/>
          </a:ln>
        </p:spPr>
        <p:txBody>
          <a:bodyPr/>
          <a:lstStyle/>
          <a:p>
            <a:endParaRPr lang="en-US"/>
          </a:p>
        </p:txBody>
      </p:sp>
      <p:sp>
        <p:nvSpPr>
          <p:cNvPr id="19" name="Text 17"/>
          <p:cNvSpPr/>
          <p:nvPr/>
        </p:nvSpPr>
        <p:spPr>
          <a:xfrm>
            <a:off x="384048" y="3730752"/>
            <a:ext cx="3657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Distributions</a:t>
            </a:r>
            <a:endParaRPr lang="en-US" sz="1300" dirty="0"/>
          </a:p>
        </p:txBody>
      </p:sp>
      <p:sp>
        <p:nvSpPr>
          <p:cNvPr id="20" name="Text 18"/>
          <p:cNvSpPr/>
          <p:nvPr/>
        </p:nvSpPr>
        <p:spPr>
          <a:xfrm>
            <a:off x="384048" y="4023360"/>
            <a:ext cx="3657600" cy="329184"/>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Alerts per cluster, top signatures, severity breakdown, source IP analytics</a:t>
            </a:r>
            <a:endParaRPr lang="en-US" sz="1100" dirty="0"/>
          </a:p>
        </p:txBody>
      </p:sp>
      <p:pic>
        <p:nvPicPr>
          <p:cNvPr id="21" name="Image 0" descr="preencoded.png"/>
          <p:cNvPicPr>
            <a:picLocks noChangeAspect="1"/>
          </p:cNvPicPr>
          <p:nvPr/>
        </p:nvPicPr>
        <p:blipFill>
          <a:blip r:embed="rId3"/>
          <a:stretch>
            <a:fillRect/>
          </a:stretch>
        </p:blipFill>
        <p:spPr>
          <a:xfrm>
            <a:off x="4389120" y="1051560"/>
            <a:ext cx="4526280" cy="3675888"/>
          </a:xfrm>
          <a:prstGeom prst="rect">
            <a:avLst/>
          </a:prstGeom>
          <a:effectLst>
            <a:outerShdw blurRad="127000" dist="38100" dir="8100000" algn="bl" rotWithShape="0">
              <a:srgbClr val="000000">
                <a:alpha val="2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1B22"/>
          </a:solidFill>
          <a:ln w="12700">
            <a:solidFill>
              <a:srgbClr val="161B22"/>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CLUSTER VISUALIZATION</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100" b="1" dirty="0">
                <a:solidFill>
                  <a:srgbClr val="E8F0F8"/>
                </a:solidFill>
                <a:latin typeface="Calibri" pitchFamily="34" charset="0"/>
                <a:ea typeface="Calibri" pitchFamily="34" charset="-122"/>
                <a:cs typeface="Calibri" pitchFamily="34" charset="-120"/>
              </a:rPr>
              <a:t>UMAP Projection — 80,200 Alerts, 20 Semantically Separated Incidents</a:t>
            </a:r>
            <a:endParaRPr lang="en-US" sz="2100" dirty="0"/>
          </a:p>
        </p:txBody>
      </p:sp>
      <p:pic>
        <p:nvPicPr>
          <p:cNvPr id="5" name="Image 0" descr="preencoded.png"/>
          <p:cNvPicPr>
            <a:picLocks noChangeAspect="1"/>
          </p:cNvPicPr>
          <p:nvPr/>
        </p:nvPicPr>
        <p:blipFill>
          <a:blip r:embed="rId3"/>
          <a:stretch>
            <a:fillRect/>
          </a:stretch>
        </p:blipFill>
        <p:spPr>
          <a:xfrm>
            <a:off x="228600" y="1005840"/>
            <a:ext cx="6400800" cy="3218688"/>
          </a:xfrm>
          <a:prstGeom prst="rect">
            <a:avLst/>
          </a:prstGeom>
          <a:effectLst>
            <a:outerShdw blurRad="127000" dist="38100" dir="8100000" algn="bl" rotWithShape="0">
              <a:srgbClr val="000000">
                <a:alpha val="25000"/>
              </a:srgbClr>
            </a:outerShdw>
          </a:effectLst>
        </p:spPr>
      </p:pic>
      <p:sp>
        <p:nvSpPr>
          <p:cNvPr id="6" name="Shape 3"/>
          <p:cNvSpPr/>
          <p:nvPr/>
        </p:nvSpPr>
        <p:spPr>
          <a:xfrm>
            <a:off x="6812280" y="1078992"/>
            <a:ext cx="2103120" cy="658368"/>
          </a:xfrm>
          <a:prstGeom prst="rect">
            <a:avLst/>
          </a:prstGeom>
          <a:solidFill>
            <a:srgbClr val="1C2333"/>
          </a:solidFill>
          <a:ln w="12700">
            <a:solidFill>
              <a:srgbClr val="00D4FF"/>
            </a:solidFill>
            <a:prstDash val="solid"/>
          </a:ln>
        </p:spPr>
        <p:txBody>
          <a:bodyPr/>
          <a:lstStyle/>
          <a:p>
            <a:endParaRPr lang="en-US"/>
          </a:p>
        </p:txBody>
      </p:sp>
      <p:sp>
        <p:nvSpPr>
          <p:cNvPr id="7" name="Text 4"/>
          <p:cNvSpPr/>
          <p:nvPr/>
        </p:nvSpPr>
        <p:spPr>
          <a:xfrm>
            <a:off x="6903720" y="1133856"/>
            <a:ext cx="1920240" cy="228600"/>
          </a:xfrm>
          <a:prstGeom prst="rect">
            <a:avLst/>
          </a:prstGeom>
          <a:noFill/>
          <a:ln/>
        </p:spPr>
        <p:txBody>
          <a:bodyPr wrap="square" rtlCol="0" anchor="ctr"/>
          <a:lstStyle/>
          <a:p>
            <a:pPr marL="0" indent="0">
              <a:buNone/>
            </a:pPr>
            <a:r>
              <a:rPr lang="en-US" sz="1050" b="1" dirty="0">
                <a:solidFill>
                  <a:srgbClr val="00D4FF"/>
                </a:solidFill>
                <a:latin typeface="Calibri" pitchFamily="34" charset="0"/>
                <a:ea typeface="Calibri" pitchFamily="34" charset="-122"/>
                <a:cs typeface="Calibri" pitchFamily="34" charset="-120"/>
              </a:rPr>
              <a:t>Each dot:</a:t>
            </a:r>
            <a:endParaRPr lang="en-US" sz="1050" dirty="0"/>
          </a:p>
        </p:txBody>
      </p:sp>
      <p:sp>
        <p:nvSpPr>
          <p:cNvPr id="8" name="Text 5"/>
          <p:cNvSpPr/>
          <p:nvPr/>
        </p:nvSpPr>
        <p:spPr>
          <a:xfrm>
            <a:off x="6903720" y="1371600"/>
            <a:ext cx="1920240" cy="310896"/>
          </a:xfrm>
          <a:prstGeom prst="rect">
            <a:avLst/>
          </a:prstGeom>
          <a:noFill/>
          <a:ln/>
        </p:spPr>
        <p:txBody>
          <a:bodyPr wrap="square" rtlCol="0" anchor="ctr"/>
          <a:lstStyle/>
          <a:p>
            <a:pPr marL="0" indent="0">
              <a:buNone/>
            </a:pPr>
            <a:r>
              <a:rPr lang="en-US" sz="950" dirty="0">
                <a:solidFill>
                  <a:srgbClr val="E8F0F8"/>
                </a:solidFill>
                <a:latin typeface="Calibri" pitchFamily="34" charset="0"/>
                <a:ea typeface="Calibri" pitchFamily="34" charset="-122"/>
                <a:cs typeface="Calibri" pitchFamily="34" charset="-120"/>
              </a:rPr>
              <a:t>= one alert, coloured by incident ID</a:t>
            </a:r>
            <a:endParaRPr lang="en-US" sz="950" dirty="0"/>
          </a:p>
        </p:txBody>
      </p:sp>
      <p:sp>
        <p:nvSpPr>
          <p:cNvPr id="9" name="Shape 6"/>
          <p:cNvSpPr/>
          <p:nvPr/>
        </p:nvSpPr>
        <p:spPr>
          <a:xfrm>
            <a:off x="6812280" y="1865376"/>
            <a:ext cx="2103120" cy="658368"/>
          </a:xfrm>
          <a:prstGeom prst="rect">
            <a:avLst/>
          </a:prstGeom>
          <a:solidFill>
            <a:srgbClr val="1C2333"/>
          </a:solidFill>
          <a:ln w="12700">
            <a:solidFill>
              <a:srgbClr val="00E87A"/>
            </a:solidFill>
            <a:prstDash val="solid"/>
          </a:ln>
        </p:spPr>
        <p:txBody>
          <a:bodyPr/>
          <a:lstStyle/>
          <a:p>
            <a:endParaRPr lang="en-US"/>
          </a:p>
        </p:txBody>
      </p:sp>
      <p:sp>
        <p:nvSpPr>
          <p:cNvPr id="10" name="Text 7"/>
          <p:cNvSpPr/>
          <p:nvPr/>
        </p:nvSpPr>
        <p:spPr>
          <a:xfrm>
            <a:off x="6903720" y="1920240"/>
            <a:ext cx="1920240" cy="228600"/>
          </a:xfrm>
          <a:prstGeom prst="rect">
            <a:avLst/>
          </a:prstGeom>
          <a:noFill/>
          <a:ln/>
        </p:spPr>
        <p:txBody>
          <a:bodyPr wrap="square" rtlCol="0" anchor="ctr"/>
          <a:lstStyle/>
          <a:p>
            <a:pPr marL="0" indent="0">
              <a:buNone/>
            </a:pPr>
            <a:r>
              <a:rPr lang="en-US" sz="1050" b="1" dirty="0">
                <a:solidFill>
                  <a:srgbClr val="00E87A"/>
                </a:solidFill>
                <a:latin typeface="Calibri" pitchFamily="34" charset="0"/>
                <a:ea typeface="Calibri" pitchFamily="34" charset="-122"/>
                <a:cs typeface="Calibri" pitchFamily="34" charset="-120"/>
              </a:rPr>
              <a:t>Proximity:</a:t>
            </a:r>
            <a:endParaRPr lang="en-US" sz="1050" dirty="0"/>
          </a:p>
        </p:txBody>
      </p:sp>
      <p:sp>
        <p:nvSpPr>
          <p:cNvPr id="11" name="Text 8"/>
          <p:cNvSpPr/>
          <p:nvPr/>
        </p:nvSpPr>
        <p:spPr>
          <a:xfrm>
            <a:off x="6903720" y="2157984"/>
            <a:ext cx="1920240" cy="310896"/>
          </a:xfrm>
          <a:prstGeom prst="rect">
            <a:avLst/>
          </a:prstGeom>
          <a:noFill/>
          <a:ln/>
        </p:spPr>
        <p:txBody>
          <a:bodyPr wrap="square" rtlCol="0" anchor="ctr"/>
          <a:lstStyle/>
          <a:p>
            <a:pPr marL="0" indent="0">
              <a:buNone/>
            </a:pPr>
            <a:r>
              <a:rPr lang="en-US" sz="950" dirty="0">
                <a:solidFill>
                  <a:srgbClr val="E8F0F8"/>
                </a:solidFill>
                <a:latin typeface="Calibri" pitchFamily="34" charset="0"/>
                <a:ea typeface="Calibri" pitchFamily="34" charset="-122"/>
                <a:cs typeface="Calibri" pitchFamily="34" charset="-120"/>
              </a:rPr>
              <a:t>= semantic similarity — alerts that behave alike cluster visually</a:t>
            </a:r>
            <a:endParaRPr lang="en-US" sz="950" dirty="0"/>
          </a:p>
        </p:txBody>
      </p:sp>
      <p:sp>
        <p:nvSpPr>
          <p:cNvPr id="12" name="Shape 9"/>
          <p:cNvSpPr/>
          <p:nvPr/>
        </p:nvSpPr>
        <p:spPr>
          <a:xfrm>
            <a:off x="6812280" y="2651760"/>
            <a:ext cx="2103120" cy="658368"/>
          </a:xfrm>
          <a:prstGeom prst="rect">
            <a:avLst/>
          </a:prstGeom>
          <a:solidFill>
            <a:srgbClr val="1C2333"/>
          </a:solidFill>
          <a:ln w="12700">
            <a:solidFill>
              <a:srgbClr val="FFB703"/>
            </a:solidFill>
            <a:prstDash val="solid"/>
          </a:ln>
        </p:spPr>
        <p:txBody>
          <a:bodyPr/>
          <a:lstStyle/>
          <a:p>
            <a:endParaRPr lang="en-US"/>
          </a:p>
        </p:txBody>
      </p:sp>
      <p:sp>
        <p:nvSpPr>
          <p:cNvPr id="13" name="Text 10"/>
          <p:cNvSpPr/>
          <p:nvPr/>
        </p:nvSpPr>
        <p:spPr>
          <a:xfrm>
            <a:off x="6903720" y="2706624"/>
            <a:ext cx="1920240" cy="228600"/>
          </a:xfrm>
          <a:prstGeom prst="rect">
            <a:avLst/>
          </a:prstGeom>
          <a:noFill/>
          <a:ln/>
        </p:spPr>
        <p:txBody>
          <a:bodyPr wrap="square" rtlCol="0" anchor="ctr"/>
          <a:lstStyle/>
          <a:p>
            <a:pPr marL="0" indent="0">
              <a:buNone/>
            </a:pPr>
            <a:r>
              <a:rPr lang="en-US" sz="1050" b="1" dirty="0">
                <a:solidFill>
                  <a:srgbClr val="FFB703"/>
                </a:solidFill>
                <a:latin typeface="Calibri" pitchFamily="34" charset="0"/>
                <a:ea typeface="Calibri" pitchFamily="34" charset="-122"/>
                <a:cs typeface="Calibri" pitchFamily="34" charset="-120"/>
              </a:rPr>
              <a:t>Oval shape:</a:t>
            </a:r>
            <a:endParaRPr lang="en-US" sz="1050" dirty="0"/>
          </a:p>
        </p:txBody>
      </p:sp>
      <p:sp>
        <p:nvSpPr>
          <p:cNvPr id="14" name="Text 11"/>
          <p:cNvSpPr/>
          <p:nvPr/>
        </p:nvSpPr>
        <p:spPr>
          <a:xfrm>
            <a:off x="6903720" y="2944368"/>
            <a:ext cx="1920240" cy="310896"/>
          </a:xfrm>
          <a:prstGeom prst="rect">
            <a:avLst/>
          </a:prstGeom>
          <a:noFill/>
          <a:ln/>
        </p:spPr>
        <p:txBody>
          <a:bodyPr wrap="square" rtlCol="0" anchor="ctr"/>
          <a:lstStyle/>
          <a:p>
            <a:pPr marL="0" indent="0">
              <a:buNone/>
            </a:pPr>
            <a:r>
              <a:rPr lang="en-US" sz="950" dirty="0">
                <a:solidFill>
                  <a:srgbClr val="E8F0F8"/>
                </a:solidFill>
                <a:latin typeface="Calibri" pitchFamily="34" charset="0"/>
                <a:ea typeface="Calibri" pitchFamily="34" charset="-122"/>
                <a:cs typeface="Calibri" pitchFamily="34" charset="-120"/>
              </a:rPr>
              <a:t>= UMAP projection artifact, not a clustering defect</a:t>
            </a:r>
            <a:endParaRPr lang="en-US" sz="950" dirty="0"/>
          </a:p>
        </p:txBody>
      </p:sp>
      <p:sp>
        <p:nvSpPr>
          <p:cNvPr id="15" name="Shape 12"/>
          <p:cNvSpPr/>
          <p:nvPr/>
        </p:nvSpPr>
        <p:spPr>
          <a:xfrm>
            <a:off x="6812280" y="3438144"/>
            <a:ext cx="2103120" cy="658368"/>
          </a:xfrm>
          <a:prstGeom prst="rect">
            <a:avLst/>
          </a:prstGeom>
          <a:solidFill>
            <a:srgbClr val="1C2333"/>
          </a:solidFill>
          <a:ln w="12700">
            <a:solidFill>
              <a:srgbClr val="FF7C3A"/>
            </a:solidFill>
            <a:prstDash val="solid"/>
          </a:ln>
        </p:spPr>
        <p:txBody>
          <a:bodyPr/>
          <a:lstStyle/>
          <a:p>
            <a:endParaRPr lang="en-US"/>
          </a:p>
        </p:txBody>
      </p:sp>
      <p:sp>
        <p:nvSpPr>
          <p:cNvPr id="16" name="Text 13"/>
          <p:cNvSpPr/>
          <p:nvPr/>
        </p:nvSpPr>
        <p:spPr>
          <a:xfrm>
            <a:off x="6903720" y="3493008"/>
            <a:ext cx="1920240" cy="228600"/>
          </a:xfrm>
          <a:prstGeom prst="rect">
            <a:avLst/>
          </a:prstGeom>
          <a:noFill/>
          <a:ln/>
        </p:spPr>
        <p:txBody>
          <a:bodyPr wrap="square" rtlCol="0" anchor="ctr"/>
          <a:lstStyle/>
          <a:p>
            <a:pPr marL="0" indent="0">
              <a:buNone/>
            </a:pPr>
            <a:r>
              <a:rPr lang="en-US" sz="1050" b="1" dirty="0">
                <a:solidFill>
                  <a:srgbClr val="FF7C3A"/>
                </a:solidFill>
                <a:latin typeface="Calibri" pitchFamily="34" charset="0"/>
                <a:ea typeface="Calibri" pitchFamily="34" charset="-122"/>
                <a:cs typeface="Calibri" pitchFamily="34" charset="-120"/>
              </a:rPr>
              <a:t>Real signal:</a:t>
            </a:r>
            <a:endParaRPr lang="en-US" sz="1050" dirty="0"/>
          </a:p>
        </p:txBody>
      </p:sp>
      <p:sp>
        <p:nvSpPr>
          <p:cNvPr id="17" name="Text 14"/>
          <p:cNvSpPr/>
          <p:nvPr/>
        </p:nvSpPr>
        <p:spPr>
          <a:xfrm>
            <a:off x="6903720" y="3730752"/>
            <a:ext cx="1920240" cy="310896"/>
          </a:xfrm>
          <a:prstGeom prst="rect">
            <a:avLst/>
          </a:prstGeom>
          <a:noFill/>
          <a:ln/>
        </p:spPr>
        <p:txBody>
          <a:bodyPr wrap="square" rtlCol="0" anchor="ctr"/>
          <a:lstStyle/>
          <a:p>
            <a:pPr marL="0" indent="0">
              <a:buNone/>
            </a:pPr>
            <a:r>
              <a:rPr lang="en-US" sz="950" dirty="0">
                <a:solidFill>
                  <a:srgbClr val="E8F0F8"/>
                </a:solidFill>
                <a:latin typeface="Calibri" pitchFamily="34" charset="0"/>
                <a:ea typeface="Calibri" pitchFamily="34" charset="-122"/>
                <a:cs typeface="Calibri" pitchFamily="34" charset="-120"/>
              </a:rPr>
              <a:t>= exact campaign recovery, not 2D geometry</a:t>
            </a:r>
            <a:endParaRPr lang="en-US" sz="950" dirty="0"/>
          </a:p>
        </p:txBody>
      </p:sp>
      <p:pic>
        <p:nvPicPr>
          <p:cNvPr id="18" name="Image 1" descr="preencoded.png"/>
          <p:cNvPicPr>
            <a:picLocks noChangeAspect="1"/>
          </p:cNvPicPr>
          <p:nvPr/>
        </p:nvPicPr>
        <p:blipFill>
          <a:blip r:embed="rId4"/>
          <a:stretch>
            <a:fillRect/>
          </a:stretch>
        </p:blipFill>
        <p:spPr>
          <a:xfrm>
            <a:off x="228600" y="4261104"/>
            <a:ext cx="6400800" cy="640080"/>
          </a:xfrm>
          <a:prstGeom prst="rect">
            <a:avLst/>
          </a:prstGeom>
          <a:effectLst>
            <a:outerShdw blurRad="127000" dist="38100" dir="8100000" algn="bl" rotWithShape="0">
              <a:srgbClr val="000000">
                <a:alpha val="25000"/>
              </a:srgbClr>
            </a:outerShdw>
          </a:effectLst>
        </p:spPr>
      </p:pic>
      <p:sp>
        <p:nvSpPr>
          <p:cNvPr id="19" name="Shape 15"/>
          <p:cNvSpPr/>
          <p:nvPr/>
        </p:nvSpPr>
        <p:spPr>
          <a:xfrm>
            <a:off x="0" y="4800600"/>
            <a:ext cx="9144000" cy="342900"/>
          </a:xfrm>
          <a:prstGeom prst="rect">
            <a:avLst/>
          </a:prstGeom>
          <a:solidFill>
            <a:srgbClr val="0A0D12"/>
          </a:solidFill>
          <a:ln w="12700">
            <a:solidFill>
              <a:srgbClr val="0A0D12"/>
            </a:solidFill>
            <a:prstDash val="solid"/>
          </a:ln>
        </p:spPr>
        <p:txBody>
          <a:bodyPr/>
          <a:lstStyle/>
          <a:p>
            <a:endParaRPr lang="en-US"/>
          </a:p>
        </p:txBody>
      </p:sp>
      <p:sp>
        <p:nvSpPr>
          <p:cNvPr id="20" name="Text 16"/>
          <p:cNvSpPr/>
          <p:nvPr/>
        </p:nvSpPr>
        <p:spPr>
          <a:xfrm>
            <a:off x="365760" y="4818888"/>
            <a:ext cx="8412480" cy="283464"/>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Pengfei Zhang  ·  IST 584  ·  April 2026</a:t>
            </a:r>
            <a:r>
              <a:rPr lang="en-US" sz="900" dirty="0">
                <a:solidFill>
                  <a:srgbClr val="00D4FF"/>
                </a:solidFill>
                <a:latin typeface="Calibri" pitchFamily="34" charset="0"/>
                <a:ea typeface="Calibri" pitchFamily="34" charset="-122"/>
                <a:cs typeface="Calibri" pitchFamily="34" charset="-120"/>
              </a:rPr>
              <a:t>   |   Cluster Visualization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93B"/>
          </a:solidFill>
          <a:ln w="12700">
            <a:solidFill>
              <a:srgbClr val="1E293B"/>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ANALYTICS DASHBOARD</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400" b="1" dirty="0">
                <a:solidFill>
                  <a:srgbClr val="E8F0F8"/>
                </a:solidFill>
                <a:latin typeface="Calibri" pitchFamily="34" charset="0"/>
                <a:ea typeface="Calibri" pitchFamily="34" charset="-122"/>
                <a:cs typeface="Calibri" pitchFamily="34" charset="-120"/>
              </a:rPr>
              <a:t>Distributions Tab: Adversary Infrastructure at a Glance</a:t>
            </a:r>
            <a:endParaRPr lang="en-US" sz="2400" dirty="0"/>
          </a:p>
        </p:txBody>
      </p:sp>
      <p:pic>
        <p:nvPicPr>
          <p:cNvPr id="5" name="Image 0" descr="preencoded.png"/>
          <p:cNvPicPr>
            <a:picLocks noChangeAspect="1"/>
          </p:cNvPicPr>
          <p:nvPr/>
        </p:nvPicPr>
        <p:blipFill>
          <a:blip r:embed="rId3"/>
          <a:stretch>
            <a:fillRect/>
          </a:stretch>
        </p:blipFill>
        <p:spPr>
          <a:xfrm>
            <a:off x="228600" y="1005840"/>
            <a:ext cx="8686800" cy="3675888"/>
          </a:xfrm>
          <a:prstGeom prst="rect">
            <a:avLst/>
          </a:prstGeom>
          <a:effectLst>
            <a:outerShdw blurRad="127000" dist="38100" dir="8100000" algn="bl" rotWithShape="0">
              <a:srgbClr val="000000">
                <a:alpha val="25000"/>
              </a:srgbClr>
            </a:outerShdw>
          </a:effectLst>
        </p:spPr>
      </p:pic>
      <p:sp>
        <p:nvSpPr>
          <p:cNvPr id="6" name="Shape 3"/>
          <p:cNvSpPr/>
          <p:nvPr/>
        </p:nvSpPr>
        <p:spPr>
          <a:xfrm>
            <a:off x="0" y="4800600"/>
            <a:ext cx="9144000" cy="342900"/>
          </a:xfrm>
          <a:prstGeom prst="rect">
            <a:avLst/>
          </a:prstGeom>
          <a:solidFill>
            <a:srgbClr val="E2E8F0"/>
          </a:solidFill>
          <a:ln w="12700">
            <a:solidFill>
              <a:srgbClr val="E2E8F0"/>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61B22"/>
          </a:solidFill>
          <a:ln w="12700">
            <a:solidFill>
              <a:srgbClr val="161B22"/>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KEY INSIGHTS</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600" b="1" dirty="0">
                <a:solidFill>
                  <a:srgbClr val="E8F0F8"/>
                </a:solidFill>
                <a:latin typeface="Calibri" pitchFamily="34" charset="0"/>
                <a:ea typeface="Calibri" pitchFamily="34" charset="-122"/>
                <a:cs typeface="Calibri" pitchFamily="34" charset="-120"/>
              </a:rPr>
              <a:t>What I Learned Building This System</a:t>
            </a:r>
            <a:endParaRPr lang="en-US" sz="2600" dirty="0"/>
          </a:p>
        </p:txBody>
      </p:sp>
      <p:sp>
        <p:nvSpPr>
          <p:cNvPr id="5" name="Shape 3"/>
          <p:cNvSpPr/>
          <p:nvPr/>
        </p:nvSpPr>
        <p:spPr>
          <a:xfrm>
            <a:off x="228600" y="1078992"/>
            <a:ext cx="4160520" cy="1115568"/>
          </a:xfrm>
          <a:prstGeom prst="rect">
            <a:avLst/>
          </a:prstGeom>
          <a:solidFill>
            <a:srgbClr val="1C2333"/>
          </a:solidFill>
          <a:ln w="12700">
            <a:solidFill>
              <a:srgbClr val="00D4FF"/>
            </a:solidFill>
            <a:prstDash val="solid"/>
          </a:ln>
          <a:effectLst>
            <a:outerShdw blurRad="127000" dist="38100" dir="8100000" algn="bl" rotWithShape="0">
              <a:srgbClr val="000000">
                <a:alpha val="25000"/>
              </a:srgbClr>
            </a:outerShdw>
          </a:effectLst>
        </p:spPr>
        <p:txBody>
          <a:bodyPr/>
          <a:lstStyle/>
          <a:p>
            <a:endParaRPr lang="en-US"/>
          </a:p>
        </p:txBody>
      </p:sp>
      <p:sp>
        <p:nvSpPr>
          <p:cNvPr id="6" name="Shape 4"/>
          <p:cNvSpPr/>
          <p:nvPr/>
        </p:nvSpPr>
        <p:spPr>
          <a:xfrm>
            <a:off x="228600" y="1078992"/>
            <a:ext cx="457200" cy="347472"/>
          </a:xfrm>
          <a:prstGeom prst="rect">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228600" y="1078992"/>
            <a:ext cx="457200" cy="347472"/>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777240" y="1133856"/>
            <a:ext cx="3520440" cy="274320"/>
          </a:xfrm>
          <a:prstGeom prst="rect">
            <a:avLst/>
          </a:prstGeom>
          <a:noFill/>
          <a:ln/>
        </p:spPr>
        <p:txBody>
          <a:bodyPr wrap="square" rtlCol="0" anchor="ctr"/>
          <a:lstStyle/>
          <a:p>
            <a:pPr marL="0" indent="0">
              <a:buNone/>
            </a:pPr>
            <a:r>
              <a:rPr lang="en-US" sz="1100" b="1" dirty="0">
                <a:solidFill>
                  <a:srgbClr val="00D4FF"/>
                </a:solidFill>
                <a:latin typeface="Calibri" pitchFamily="34" charset="0"/>
                <a:ea typeface="Calibri" pitchFamily="34" charset="-122"/>
                <a:cs typeface="Calibri" pitchFamily="34" charset="-120"/>
              </a:rPr>
              <a:t>AI + Security Integration Works at Scale</a:t>
            </a:r>
            <a:endParaRPr lang="en-US" sz="1100" dirty="0"/>
          </a:p>
        </p:txBody>
      </p:sp>
      <p:sp>
        <p:nvSpPr>
          <p:cNvPr id="9" name="Text 7"/>
          <p:cNvSpPr/>
          <p:nvPr/>
        </p:nvSpPr>
        <p:spPr>
          <a:xfrm>
            <a:off x="338328" y="1463040"/>
            <a:ext cx="3950208" cy="658368"/>
          </a:xfrm>
          <a:prstGeom prst="rect">
            <a:avLst/>
          </a:prstGeom>
          <a:noFill/>
          <a:ln/>
        </p:spPr>
        <p:txBody>
          <a:bodyPr wrap="square" rtlCol="0" anchor="t"/>
          <a:lstStyle/>
          <a:p>
            <a:pPr marL="0" indent="0">
              <a:lnSpc>
                <a:spcPct val="120000"/>
              </a:lnSpc>
              <a:buNone/>
            </a:pPr>
            <a:r>
              <a:rPr lang="en-US" sz="1000" dirty="0">
                <a:solidFill>
                  <a:srgbClr val="E8F0F8"/>
                </a:solidFill>
                <a:latin typeface="Calibri" pitchFamily="34" charset="0"/>
                <a:ea typeface="Calibri" pitchFamily="34" charset="-122"/>
                <a:cs typeface="Calibri" pitchFamily="34" charset="-120"/>
              </a:rPr>
              <a:t>Semantic clustering with incident stitching reduced 100,000 alerts to exactly 20 incidents. The AI layer directly improves SOC triage.</a:t>
            </a:r>
            <a:endParaRPr lang="en-US" sz="1000" dirty="0"/>
          </a:p>
        </p:txBody>
      </p:sp>
      <p:sp>
        <p:nvSpPr>
          <p:cNvPr id="10" name="Shape 8"/>
          <p:cNvSpPr/>
          <p:nvPr/>
        </p:nvSpPr>
        <p:spPr>
          <a:xfrm>
            <a:off x="228600" y="2267712"/>
            <a:ext cx="4160520" cy="1115568"/>
          </a:xfrm>
          <a:prstGeom prst="rect">
            <a:avLst/>
          </a:prstGeom>
          <a:solidFill>
            <a:srgbClr val="1C2333"/>
          </a:solidFill>
          <a:ln w="12700">
            <a:solidFill>
              <a:srgbClr val="FFB703"/>
            </a:solidFill>
            <a:prstDash val="solid"/>
          </a:ln>
          <a:effectLst>
            <a:outerShdw blurRad="127000" dist="38100" dir="8100000" algn="bl" rotWithShape="0">
              <a:srgbClr val="000000">
                <a:alpha val="25000"/>
              </a:srgbClr>
            </a:outerShdw>
          </a:effectLst>
        </p:spPr>
        <p:txBody>
          <a:bodyPr/>
          <a:lstStyle/>
          <a:p>
            <a:endParaRPr lang="en-US"/>
          </a:p>
        </p:txBody>
      </p:sp>
      <p:sp>
        <p:nvSpPr>
          <p:cNvPr id="11" name="Shape 9"/>
          <p:cNvSpPr/>
          <p:nvPr/>
        </p:nvSpPr>
        <p:spPr>
          <a:xfrm>
            <a:off x="228600" y="2267712"/>
            <a:ext cx="457200" cy="347472"/>
          </a:xfrm>
          <a:prstGeom prst="rect">
            <a:avLst/>
          </a:prstGeom>
          <a:solidFill>
            <a:srgbClr val="FFB703"/>
          </a:solidFill>
          <a:ln w="12700">
            <a:solidFill>
              <a:srgbClr val="FFB703"/>
            </a:solidFill>
            <a:prstDash val="solid"/>
          </a:ln>
        </p:spPr>
        <p:txBody>
          <a:bodyPr/>
          <a:lstStyle/>
          <a:p>
            <a:endParaRPr lang="en-US"/>
          </a:p>
        </p:txBody>
      </p:sp>
      <p:sp>
        <p:nvSpPr>
          <p:cNvPr id="12" name="Text 10"/>
          <p:cNvSpPr/>
          <p:nvPr/>
        </p:nvSpPr>
        <p:spPr>
          <a:xfrm>
            <a:off x="228600" y="2267712"/>
            <a:ext cx="457200" cy="347472"/>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777240" y="2322576"/>
            <a:ext cx="3520440" cy="274320"/>
          </a:xfrm>
          <a:prstGeom prst="rect">
            <a:avLst/>
          </a:prstGeom>
          <a:noFill/>
          <a:ln/>
        </p:spPr>
        <p:txBody>
          <a:bodyPr wrap="square" rtlCol="0" anchor="ctr"/>
          <a:lstStyle/>
          <a:p>
            <a:pPr marL="0" indent="0">
              <a:buNone/>
            </a:pPr>
            <a:r>
              <a:rPr lang="en-US" sz="1100" b="1" dirty="0">
                <a:solidFill>
                  <a:srgbClr val="FFB703"/>
                </a:solidFill>
                <a:latin typeface="Calibri" pitchFamily="34" charset="0"/>
                <a:ea typeface="Calibri" pitchFamily="34" charset="-122"/>
                <a:cs typeface="Calibri" pitchFamily="34" charset="-120"/>
              </a:rPr>
              <a:t>UMAP Visuals ≠ Clustering Truth</a:t>
            </a:r>
            <a:endParaRPr lang="en-US" sz="1100" dirty="0"/>
          </a:p>
        </p:txBody>
      </p:sp>
      <p:sp>
        <p:nvSpPr>
          <p:cNvPr id="14" name="Text 12"/>
          <p:cNvSpPr/>
          <p:nvPr/>
        </p:nvSpPr>
        <p:spPr>
          <a:xfrm>
            <a:off x="338328" y="2651760"/>
            <a:ext cx="3950208" cy="658368"/>
          </a:xfrm>
          <a:prstGeom prst="rect">
            <a:avLst/>
          </a:prstGeom>
          <a:noFill/>
          <a:ln/>
        </p:spPr>
        <p:txBody>
          <a:bodyPr wrap="square" rtlCol="0" anchor="t"/>
          <a:lstStyle/>
          <a:p>
            <a:pPr marL="0" indent="0">
              <a:lnSpc>
                <a:spcPct val="120000"/>
              </a:lnSpc>
              <a:buNone/>
            </a:pPr>
            <a:r>
              <a:rPr lang="en-US" sz="1000" dirty="0">
                <a:solidFill>
                  <a:srgbClr val="E8F0F8"/>
                </a:solidFill>
                <a:latin typeface="Calibri" pitchFamily="34" charset="0"/>
                <a:ea typeface="Calibri" pitchFamily="34" charset="-122"/>
                <a:cs typeface="Calibri" pitchFamily="34" charset="-120"/>
              </a:rPr>
              <a:t>Circular UMAP layouts are normal on balanced datasets. It is a projection artifact. The validation signal is exact incident recovery and not 2D geometry.</a:t>
            </a:r>
            <a:endParaRPr lang="en-US" sz="1000" dirty="0"/>
          </a:p>
        </p:txBody>
      </p:sp>
      <p:sp>
        <p:nvSpPr>
          <p:cNvPr id="15" name="Shape 13"/>
          <p:cNvSpPr/>
          <p:nvPr/>
        </p:nvSpPr>
        <p:spPr>
          <a:xfrm>
            <a:off x="228600" y="3456432"/>
            <a:ext cx="4160520" cy="1115568"/>
          </a:xfrm>
          <a:prstGeom prst="rect">
            <a:avLst/>
          </a:prstGeom>
          <a:solidFill>
            <a:srgbClr val="1C2333"/>
          </a:solidFill>
          <a:ln w="12700">
            <a:solidFill>
              <a:srgbClr val="00E87A"/>
            </a:solidFill>
            <a:prstDash val="solid"/>
          </a:ln>
          <a:effectLst>
            <a:outerShdw blurRad="127000" dist="38100" dir="8100000" algn="bl" rotWithShape="0">
              <a:srgbClr val="000000">
                <a:alpha val="25000"/>
              </a:srgbClr>
            </a:outerShdw>
          </a:effectLst>
        </p:spPr>
        <p:txBody>
          <a:bodyPr/>
          <a:lstStyle/>
          <a:p>
            <a:endParaRPr lang="en-US"/>
          </a:p>
        </p:txBody>
      </p:sp>
      <p:sp>
        <p:nvSpPr>
          <p:cNvPr id="16" name="Shape 14"/>
          <p:cNvSpPr/>
          <p:nvPr/>
        </p:nvSpPr>
        <p:spPr>
          <a:xfrm>
            <a:off x="228600" y="3456432"/>
            <a:ext cx="457200" cy="347472"/>
          </a:xfrm>
          <a:prstGeom prst="rect">
            <a:avLst/>
          </a:prstGeom>
          <a:solidFill>
            <a:srgbClr val="00E87A"/>
          </a:solidFill>
          <a:ln w="12700">
            <a:solidFill>
              <a:srgbClr val="00E87A"/>
            </a:solidFill>
            <a:prstDash val="solid"/>
          </a:ln>
        </p:spPr>
        <p:txBody>
          <a:bodyPr/>
          <a:lstStyle/>
          <a:p>
            <a:endParaRPr lang="en-US"/>
          </a:p>
        </p:txBody>
      </p:sp>
      <p:sp>
        <p:nvSpPr>
          <p:cNvPr id="17" name="Text 15"/>
          <p:cNvSpPr/>
          <p:nvPr/>
        </p:nvSpPr>
        <p:spPr>
          <a:xfrm>
            <a:off x="228600" y="3456432"/>
            <a:ext cx="457200" cy="347472"/>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777240" y="3511296"/>
            <a:ext cx="3520440" cy="274320"/>
          </a:xfrm>
          <a:prstGeom prst="rect">
            <a:avLst/>
          </a:prstGeom>
          <a:noFill/>
          <a:ln/>
        </p:spPr>
        <p:txBody>
          <a:bodyPr wrap="square" rtlCol="0" anchor="ctr"/>
          <a:lstStyle/>
          <a:p>
            <a:pPr marL="0" indent="0">
              <a:buNone/>
            </a:pPr>
            <a:r>
              <a:rPr lang="en-US" sz="1100" b="1" dirty="0">
                <a:solidFill>
                  <a:srgbClr val="00E87A"/>
                </a:solidFill>
                <a:latin typeface="Calibri" pitchFamily="34" charset="0"/>
                <a:ea typeface="Calibri" pitchFamily="34" charset="-122"/>
                <a:cs typeface="Calibri" pitchFamily="34" charset="-120"/>
              </a:rPr>
              <a:t>Local Cache Design Matters</a:t>
            </a:r>
            <a:endParaRPr lang="en-US" sz="1100" dirty="0"/>
          </a:p>
        </p:txBody>
      </p:sp>
      <p:sp>
        <p:nvSpPr>
          <p:cNvPr id="19" name="Text 17"/>
          <p:cNvSpPr/>
          <p:nvPr/>
        </p:nvSpPr>
        <p:spPr>
          <a:xfrm>
            <a:off x="338328" y="3840480"/>
            <a:ext cx="3950208" cy="658368"/>
          </a:xfrm>
          <a:prstGeom prst="rect">
            <a:avLst/>
          </a:prstGeom>
          <a:noFill/>
          <a:ln/>
        </p:spPr>
        <p:txBody>
          <a:bodyPr wrap="square" rtlCol="0" anchor="t"/>
          <a:lstStyle/>
          <a:p>
            <a:pPr marL="0" indent="0">
              <a:lnSpc>
                <a:spcPct val="120000"/>
              </a:lnSpc>
              <a:buNone/>
            </a:pPr>
            <a:r>
              <a:rPr lang="en-US" sz="1000" dirty="0">
                <a:solidFill>
                  <a:srgbClr val="E8F0F8"/>
                </a:solidFill>
                <a:latin typeface="Calibri" pitchFamily="34" charset="0"/>
                <a:ea typeface="Calibri" pitchFamily="34" charset="-122"/>
                <a:cs typeface="Calibri" pitchFamily="34" charset="-120"/>
              </a:rPr>
              <a:t>Keeping HuggingFace models and embeddings in a local hf_cache/ directory reduced embedding time, improved stability, and prevented large files from polluting the GitHub repository.</a:t>
            </a:r>
            <a:endParaRPr lang="en-US" sz="1000" dirty="0"/>
          </a:p>
        </p:txBody>
      </p:sp>
      <p:sp>
        <p:nvSpPr>
          <p:cNvPr id="20" name="Shape 18"/>
          <p:cNvSpPr/>
          <p:nvPr/>
        </p:nvSpPr>
        <p:spPr>
          <a:xfrm>
            <a:off x="4709160" y="1078992"/>
            <a:ext cx="4160520" cy="1115568"/>
          </a:xfrm>
          <a:prstGeom prst="rect">
            <a:avLst/>
          </a:prstGeom>
          <a:solidFill>
            <a:srgbClr val="1C2333"/>
          </a:solidFill>
          <a:ln w="12700">
            <a:solidFill>
              <a:srgbClr val="FF7C3A"/>
            </a:solidFill>
            <a:prstDash val="solid"/>
          </a:ln>
          <a:effectLst>
            <a:outerShdw blurRad="127000" dist="38100" dir="8100000" algn="bl" rotWithShape="0">
              <a:srgbClr val="000000">
                <a:alpha val="25000"/>
              </a:srgbClr>
            </a:outerShdw>
          </a:effectLst>
        </p:spPr>
        <p:txBody>
          <a:bodyPr/>
          <a:lstStyle/>
          <a:p>
            <a:endParaRPr lang="en-US"/>
          </a:p>
        </p:txBody>
      </p:sp>
      <p:sp>
        <p:nvSpPr>
          <p:cNvPr id="21" name="Shape 19"/>
          <p:cNvSpPr/>
          <p:nvPr/>
        </p:nvSpPr>
        <p:spPr>
          <a:xfrm>
            <a:off x="4709160" y="1078992"/>
            <a:ext cx="457200" cy="347472"/>
          </a:xfrm>
          <a:prstGeom prst="rect">
            <a:avLst/>
          </a:prstGeom>
          <a:solidFill>
            <a:srgbClr val="FF7C3A"/>
          </a:solidFill>
          <a:ln w="12700">
            <a:solidFill>
              <a:srgbClr val="FF7C3A"/>
            </a:solidFill>
            <a:prstDash val="solid"/>
          </a:ln>
        </p:spPr>
        <p:txBody>
          <a:bodyPr/>
          <a:lstStyle/>
          <a:p>
            <a:endParaRPr lang="en-US"/>
          </a:p>
        </p:txBody>
      </p:sp>
      <p:sp>
        <p:nvSpPr>
          <p:cNvPr id="22" name="Text 20"/>
          <p:cNvSpPr/>
          <p:nvPr/>
        </p:nvSpPr>
        <p:spPr>
          <a:xfrm>
            <a:off x="4709160" y="1078992"/>
            <a:ext cx="457200" cy="347472"/>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5257800" y="1133856"/>
            <a:ext cx="3520440" cy="274320"/>
          </a:xfrm>
          <a:prstGeom prst="rect">
            <a:avLst/>
          </a:prstGeom>
          <a:noFill/>
          <a:ln/>
        </p:spPr>
        <p:txBody>
          <a:bodyPr wrap="square" rtlCol="0" anchor="ctr"/>
          <a:lstStyle/>
          <a:p>
            <a:pPr marL="0" indent="0">
              <a:buNone/>
            </a:pPr>
            <a:r>
              <a:rPr lang="en-US" sz="1100" b="1" dirty="0">
                <a:solidFill>
                  <a:srgbClr val="FF7C3A"/>
                </a:solidFill>
                <a:latin typeface="Calibri" pitchFamily="34" charset="0"/>
                <a:ea typeface="Calibri" pitchFamily="34" charset="-122"/>
                <a:cs typeface="Calibri" pitchFamily="34" charset="-120"/>
              </a:rPr>
              <a:t>Explainability Builds Analyst Trust</a:t>
            </a:r>
            <a:endParaRPr lang="en-US" sz="1100" dirty="0"/>
          </a:p>
        </p:txBody>
      </p:sp>
      <p:sp>
        <p:nvSpPr>
          <p:cNvPr id="24" name="Text 22"/>
          <p:cNvSpPr/>
          <p:nvPr/>
        </p:nvSpPr>
        <p:spPr>
          <a:xfrm>
            <a:off x="4818888" y="1463040"/>
            <a:ext cx="3950208" cy="658368"/>
          </a:xfrm>
          <a:prstGeom prst="rect">
            <a:avLst/>
          </a:prstGeom>
          <a:noFill/>
          <a:ln/>
        </p:spPr>
        <p:txBody>
          <a:bodyPr wrap="square" rtlCol="0" anchor="t"/>
          <a:lstStyle/>
          <a:p>
            <a:pPr>
              <a:lnSpc>
                <a:spcPct val="120000"/>
              </a:lnSpc>
            </a:pPr>
            <a:r>
              <a:rPr lang="en-US" sz="1000" dirty="0">
                <a:solidFill>
                  <a:srgbClr val="E8F0F8"/>
                </a:solidFill>
                <a:latin typeface="Calibri" pitchFamily="34" charset="0"/>
                <a:ea typeface="Calibri" pitchFamily="34" charset="-122"/>
                <a:cs typeface="Calibri" pitchFamily="34" charset="-120"/>
              </a:rPr>
              <a:t>Matching the cluster map with incident IDs, adding severity views, source-IP analytics, and incident cards made the dashboard easier to understand and more like a real SOC workflow.</a:t>
            </a:r>
            <a:endParaRPr lang="en-US" sz="1000" dirty="0"/>
          </a:p>
        </p:txBody>
      </p:sp>
      <p:sp>
        <p:nvSpPr>
          <p:cNvPr id="25" name="Shape 23"/>
          <p:cNvSpPr/>
          <p:nvPr/>
        </p:nvSpPr>
        <p:spPr>
          <a:xfrm>
            <a:off x="4709160" y="2267712"/>
            <a:ext cx="4160520" cy="1115568"/>
          </a:xfrm>
          <a:prstGeom prst="rect">
            <a:avLst/>
          </a:prstGeom>
          <a:solidFill>
            <a:srgbClr val="1C2333"/>
          </a:solidFill>
          <a:ln w="12700">
            <a:solidFill>
              <a:srgbClr val="FF3A5C"/>
            </a:solidFill>
            <a:prstDash val="solid"/>
          </a:ln>
          <a:effectLst>
            <a:outerShdw blurRad="127000" dist="38100" dir="8100000" algn="bl" rotWithShape="0">
              <a:srgbClr val="000000">
                <a:alpha val="25000"/>
              </a:srgbClr>
            </a:outerShdw>
          </a:effectLst>
        </p:spPr>
        <p:txBody>
          <a:bodyPr/>
          <a:lstStyle/>
          <a:p>
            <a:endParaRPr lang="en-US"/>
          </a:p>
        </p:txBody>
      </p:sp>
      <p:sp>
        <p:nvSpPr>
          <p:cNvPr id="26" name="Shape 24"/>
          <p:cNvSpPr/>
          <p:nvPr/>
        </p:nvSpPr>
        <p:spPr>
          <a:xfrm>
            <a:off x="4709160" y="2267712"/>
            <a:ext cx="457200" cy="347472"/>
          </a:xfrm>
          <a:prstGeom prst="rect">
            <a:avLst/>
          </a:prstGeom>
          <a:solidFill>
            <a:srgbClr val="FF3A5C"/>
          </a:solidFill>
          <a:ln w="12700">
            <a:solidFill>
              <a:srgbClr val="FF3A5C"/>
            </a:solidFill>
            <a:prstDash val="solid"/>
          </a:ln>
        </p:spPr>
        <p:txBody>
          <a:bodyPr/>
          <a:lstStyle/>
          <a:p>
            <a:endParaRPr lang="en-US"/>
          </a:p>
        </p:txBody>
      </p:sp>
      <p:sp>
        <p:nvSpPr>
          <p:cNvPr id="27" name="Text 25"/>
          <p:cNvSpPr/>
          <p:nvPr/>
        </p:nvSpPr>
        <p:spPr>
          <a:xfrm>
            <a:off x="4709160" y="2267712"/>
            <a:ext cx="457200" cy="347472"/>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05</a:t>
            </a:r>
            <a:endParaRPr lang="en-US" sz="1300" dirty="0"/>
          </a:p>
        </p:txBody>
      </p:sp>
      <p:sp>
        <p:nvSpPr>
          <p:cNvPr id="28" name="Text 26"/>
          <p:cNvSpPr/>
          <p:nvPr/>
        </p:nvSpPr>
        <p:spPr>
          <a:xfrm>
            <a:off x="5257800" y="2322576"/>
            <a:ext cx="3520440" cy="274320"/>
          </a:xfrm>
          <a:prstGeom prst="rect">
            <a:avLst/>
          </a:prstGeom>
          <a:noFill/>
          <a:ln/>
        </p:spPr>
        <p:txBody>
          <a:bodyPr wrap="square" rtlCol="0" anchor="ctr"/>
          <a:lstStyle/>
          <a:p>
            <a:pPr marL="0" indent="0">
              <a:buNone/>
            </a:pPr>
            <a:r>
              <a:rPr lang="en-US" sz="1100" b="1" dirty="0">
                <a:solidFill>
                  <a:srgbClr val="FF3A5C"/>
                </a:solidFill>
                <a:latin typeface="Calibri" pitchFamily="34" charset="0"/>
                <a:ea typeface="Calibri" pitchFamily="34" charset="-122"/>
                <a:cs typeface="Calibri" pitchFamily="34" charset="-120"/>
              </a:rPr>
              <a:t>Next Step: Enterprise Validation</a:t>
            </a:r>
            <a:endParaRPr lang="en-US" sz="1100" dirty="0"/>
          </a:p>
        </p:txBody>
      </p:sp>
      <p:sp>
        <p:nvSpPr>
          <p:cNvPr id="29" name="Text 27"/>
          <p:cNvSpPr/>
          <p:nvPr/>
        </p:nvSpPr>
        <p:spPr>
          <a:xfrm>
            <a:off x="4814316" y="2578608"/>
            <a:ext cx="3950208" cy="658368"/>
          </a:xfrm>
          <a:prstGeom prst="rect">
            <a:avLst/>
          </a:prstGeom>
          <a:noFill/>
          <a:ln/>
        </p:spPr>
        <p:txBody>
          <a:bodyPr wrap="square" rtlCol="0" anchor="t"/>
          <a:lstStyle/>
          <a:p>
            <a:pPr>
              <a:lnSpc>
                <a:spcPct val="120000"/>
              </a:lnSpc>
            </a:pPr>
            <a:r>
              <a:rPr lang="en-US" sz="1000" dirty="0">
                <a:solidFill>
                  <a:srgbClr val="E8F0F8"/>
                </a:solidFill>
                <a:latin typeface="Calibri" pitchFamily="34" charset="0"/>
                <a:ea typeface="Calibri" pitchFamily="34" charset="-122"/>
                <a:cs typeface="Calibri" pitchFamily="34" charset="-120"/>
              </a:rPr>
              <a:t>The prototype gave strong results on synthetic data. Next, will be to test  with benign and malicious enterprise telemetry to measure false positives, false merges, and long-duration campaign stitching to ensure it is enterprise ready</a:t>
            </a:r>
            <a:endParaRPr lang="en-US" sz="1000" dirty="0"/>
          </a:p>
        </p:txBody>
      </p:sp>
      <p:sp>
        <p:nvSpPr>
          <p:cNvPr id="30" name="Shape 28"/>
          <p:cNvSpPr/>
          <p:nvPr/>
        </p:nvSpPr>
        <p:spPr>
          <a:xfrm>
            <a:off x="0" y="4800600"/>
            <a:ext cx="9144000" cy="342900"/>
          </a:xfrm>
          <a:prstGeom prst="rect">
            <a:avLst/>
          </a:prstGeom>
          <a:solidFill>
            <a:srgbClr val="0A0D12"/>
          </a:solidFill>
          <a:ln w="12700">
            <a:solidFill>
              <a:srgbClr val="0A0D12"/>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93B"/>
          </a:solidFill>
          <a:ln w="12700">
            <a:solidFill>
              <a:srgbClr val="1E293B"/>
            </a:solidFill>
            <a:prstDash val="solid"/>
          </a:ln>
        </p:spPr>
        <p:txBody>
          <a:bodyPr/>
          <a:lstStyle/>
          <a:p>
            <a:endParaRPr lang="en-US"/>
          </a:p>
        </p:txBody>
      </p:sp>
      <p:sp>
        <p:nvSpPr>
          <p:cNvPr id="3" name="Text 1"/>
          <p:cNvSpPr/>
          <p:nvPr/>
        </p:nvSpPr>
        <p:spPr>
          <a:xfrm>
            <a:off x="365760" y="91440"/>
            <a:ext cx="82296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OPERATIONAL IMPACT</a:t>
            </a:r>
            <a:endParaRPr lang="en-US" sz="1000" dirty="0"/>
          </a:p>
        </p:txBody>
      </p:sp>
      <p:sp>
        <p:nvSpPr>
          <p:cNvPr id="4" name="Text 2"/>
          <p:cNvSpPr/>
          <p:nvPr/>
        </p:nvSpPr>
        <p:spPr>
          <a:xfrm>
            <a:off x="365760" y="347472"/>
            <a:ext cx="8412480" cy="502920"/>
          </a:xfrm>
          <a:prstGeom prst="rect">
            <a:avLst/>
          </a:prstGeom>
          <a:noFill/>
          <a:ln/>
        </p:spPr>
        <p:txBody>
          <a:bodyPr wrap="square" rtlCol="0" anchor="ctr"/>
          <a:lstStyle/>
          <a:p>
            <a:pPr marL="0" indent="0">
              <a:buNone/>
            </a:pPr>
            <a:r>
              <a:rPr lang="en-US" sz="2200" b="1" dirty="0">
                <a:solidFill>
                  <a:srgbClr val="E8F0F8"/>
                </a:solidFill>
                <a:latin typeface="Calibri" pitchFamily="34" charset="0"/>
                <a:ea typeface="Calibri" pitchFamily="34" charset="-122"/>
                <a:cs typeface="Calibri" pitchFamily="34" charset="-120"/>
              </a:rPr>
              <a:t>Faster Triage + No Extra Headcount + No Infrastructure Overhaul</a:t>
            </a:r>
            <a:endParaRPr lang="en-US" sz="2200" dirty="0"/>
          </a:p>
        </p:txBody>
      </p:sp>
      <p:sp>
        <p:nvSpPr>
          <p:cNvPr id="14" name="Shape 12"/>
          <p:cNvSpPr/>
          <p:nvPr/>
        </p:nvSpPr>
        <p:spPr>
          <a:xfrm>
            <a:off x="274320" y="1325747"/>
            <a:ext cx="4206240" cy="2514600"/>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15" name="Shape 13"/>
          <p:cNvSpPr/>
          <p:nvPr/>
        </p:nvSpPr>
        <p:spPr>
          <a:xfrm>
            <a:off x="274320" y="1618355"/>
            <a:ext cx="4206240" cy="54864"/>
          </a:xfrm>
          <a:prstGeom prst="rect">
            <a:avLst/>
          </a:prstGeom>
          <a:solidFill>
            <a:srgbClr val="E63946"/>
          </a:solidFill>
          <a:ln w="12700">
            <a:solidFill>
              <a:srgbClr val="E63946"/>
            </a:solidFill>
            <a:prstDash val="solid"/>
          </a:ln>
        </p:spPr>
        <p:txBody>
          <a:bodyPr/>
          <a:lstStyle/>
          <a:p>
            <a:endParaRPr lang="en-US"/>
          </a:p>
        </p:txBody>
      </p:sp>
      <p:sp>
        <p:nvSpPr>
          <p:cNvPr id="16" name="Text 14"/>
          <p:cNvSpPr/>
          <p:nvPr/>
        </p:nvSpPr>
        <p:spPr>
          <a:xfrm>
            <a:off x="411480" y="1325747"/>
            <a:ext cx="393192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Before This System</a:t>
            </a:r>
            <a:endParaRPr lang="en-US" sz="1300" dirty="0"/>
          </a:p>
        </p:txBody>
      </p:sp>
      <p:sp>
        <p:nvSpPr>
          <p:cNvPr id="17" name="Text 15"/>
          <p:cNvSpPr/>
          <p:nvPr/>
        </p:nvSpPr>
        <p:spPr>
          <a:xfrm>
            <a:off x="411480" y="1673219"/>
            <a:ext cx="3931920" cy="1920240"/>
          </a:xfrm>
          <a:prstGeom prst="rect">
            <a:avLst/>
          </a:prstGeom>
          <a:noFill/>
          <a:ln/>
        </p:spPr>
        <p:txBody>
          <a:bodyPr wrap="square" rtlCol="0" anchor="t"/>
          <a:lstStyle/>
          <a:p>
            <a:pPr marL="171450" indent="-171450">
              <a:lnSpc>
                <a:spcPct val="140000"/>
              </a:lnSpc>
              <a:buFont typeface="Arial" panose="020B0604020202020204" pitchFamily="34" charset="0"/>
              <a:buChar char="•"/>
            </a:pPr>
            <a:r>
              <a:rPr lang="en-US" sz="1100" dirty="0">
                <a:solidFill>
                  <a:srgbClr val="475569"/>
                </a:solidFill>
                <a:latin typeface="Calibri" pitchFamily="34" charset="0"/>
                <a:ea typeface="Calibri" pitchFamily="34" charset="-122"/>
                <a:cs typeface="Calibri" pitchFamily="34" charset="-120"/>
              </a:rPr>
              <a:t>Analysts would manually review thousands of repetitive alerts per shift</a:t>
            </a:r>
            <a:endParaRPr lang="en-US" sz="1100" dirty="0"/>
          </a:p>
          <a:p>
            <a:pPr marL="171450" indent="-171450">
              <a:lnSpc>
                <a:spcPct val="140000"/>
              </a:lnSpc>
              <a:buFont typeface="Arial" panose="020B0604020202020204" pitchFamily="34" charset="0"/>
              <a:buChar char="•"/>
            </a:pPr>
            <a:r>
              <a:rPr lang="en-US" sz="1100" dirty="0">
                <a:solidFill>
                  <a:srgbClr val="475569"/>
                </a:solidFill>
                <a:latin typeface="Calibri" pitchFamily="34" charset="0"/>
                <a:ea typeface="Calibri" pitchFamily="34" charset="-122"/>
                <a:cs typeface="Calibri" pitchFamily="34" charset="-120"/>
              </a:rPr>
              <a:t>Related attack events split across unconnected tickets</a:t>
            </a:r>
            <a:endParaRPr lang="en-US" sz="1100" dirty="0"/>
          </a:p>
          <a:p>
            <a:pPr marL="171450" indent="-171450">
              <a:lnSpc>
                <a:spcPct val="140000"/>
              </a:lnSpc>
              <a:buFont typeface="Arial" panose="020B0604020202020204" pitchFamily="34" charset="0"/>
              <a:buChar char="•"/>
            </a:pPr>
            <a:r>
              <a:rPr lang="en-US" sz="1100" dirty="0">
                <a:solidFill>
                  <a:srgbClr val="475569"/>
                </a:solidFill>
                <a:latin typeface="Calibri" pitchFamily="34" charset="0"/>
                <a:ea typeface="Calibri" pitchFamily="34" charset="-122"/>
                <a:cs typeface="Calibri" pitchFamily="34" charset="-120"/>
              </a:rPr>
              <a:t>Critical threats buried in alert noise</a:t>
            </a:r>
            <a:endParaRPr lang="en-US" sz="1100" dirty="0"/>
          </a:p>
          <a:p>
            <a:pPr marL="171450" indent="-171450">
              <a:lnSpc>
                <a:spcPct val="140000"/>
              </a:lnSpc>
              <a:buFont typeface="Arial" panose="020B0604020202020204" pitchFamily="34" charset="0"/>
              <a:buChar char="•"/>
            </a:pPr>
            <a:r>
              <a:rPr lang="en-US" sz="1100" dirty="0">
                <a:solidFill>
                  <a:srgbClr val="475569"/>
                </a:solidFill>
                <a:latin typeface="Calibri" pitchFamily="34" charset="0"/>
                <a:ea typeface="Calibri" pitchFamily="34" charset="-122"/>
                <a:cs typeface="Calibri" pitchFamily="34" charset="-120"/>
              </a:rPr>
              <a:t>High burnout rate leads to missed detections</a:t>
            </a:r>
            <a:endParaRPr lang="en-US" sz="1100" dirty="0"/>
          </a:p>
        </p:txBody>
      </p:sp>
      <p:sp>
        <p:nvSpPr>
          <p:cNvPr id="18" name="Shape 16"/>
          <p:cNvSpPr/>
          <p:nvPr/>
        </p:nvSpPr>
        <p:spPr>
          <a:xfrm>
            <a:off x="4663440" y="1325747"/>
            <a:ext cx="4206240" cy="2514600"/>
          </a:xfrm>
          <a:prstGeom prst="rect">
            <a:avLst/>
          </a:prstGeom>
          <a:solidFill>
            <a:srgbClr val="FFFFFF"/>
          </a:solidFill>
          <a:ln w="12700">
            <a:solidFill>
              <a:srgbClr val="E2E8F0"/>
            </a:solidFill>
            <a:prstDash val="solid"/>
          </a:ln>
          <a:effectLst>
            <a:outerShdw blurRad="127000" dist="38100" dir="8100000" algn="bl" rotWithShape="0">
              <a:srgbClr val="000000">
                <a:alpha val="25000"/>
              </a:srgbClr>
            </a:outerShdw>
          </a:effectLst>
        </p:spPr>
        <p:txBody>
          <a:bodyPr/>
          <a:lstStyle/>
          <a:p>
            <a:endParaRPr lang="en-US"/>
          </a:p>
        </p:txBody>
      </p:sp>
      <p:sp>
        <p:nvSpPr>
          <p:cNvPr id="19" name="Shape 17"/>
          <p:cNvSpPr/>
          <p:nvPr/>
        </p:nvSpPr>
        <p:spPr>
          <a:xfrm>
            <a:off x="4663440" y="1618355"/>
            <a:ext cx="4206240" cy="54864"/>
          </a:xfrm>
          <a:prstGeom prst="rect">
            <a:avLst/>
          </a:prstGeom>
          <a:solidFill>
            <a:srgbClr val="22C55E"/>
          </a:solidFill>
          <a:ln w="12700">
            <a:solidFill>
              <a:srgbClr val="22C55E"/>
            </a:solidFill>
            <a:prstDash val="solid"/>
          </a:ln>
        </p:spPr>
        <p:txBody>
          <a:bodyPr/>
          <a:lstStyle/>
          <a:p>
            <a:endParaRPr lang="en-US"/>
          </a:p>
        </p:txBody>
      </p:sp>
      <p:sp>
        <p:nvSpPr>
          <p:cNvPr id="20" name="Text 18"/>
          <p:cNvSpPr/>
          <p:nvPr/>
        </p:nvSpPr>
        <p:spPr>
          <a:xfrm>
            <a:off x="4747205" y="1325747"/>
            <a:ext cx="393192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With This System</a:t>
            </a:r>
            <a:endParaRPr lang="en-US" sz="1300" dirty="0"/>
          </a:p>
        </p:txBody>
      </p:sp>
      <p:sp>
        <p:nvSpPr>
          <p:cNvPr id="21" name="Text 19"/>
          <p:cNvSpPr/>
          <p:nvPr/>
        </p:nvSpPr>
        <p:spPr>
          <a:xfrm>
            <a:off x="4800600" y="1673219"/>
            <a:ext cx="3931920" cy="1920240"/>
          </a:xfrm>
          <a:prstGeom prst="rect">
            <a:avLst/>
          </a:prstGeom>
          <a:noFill/>
          <a:ln/>
        </p:spPr>
        <p:txBody>
          <a:bodyPr wrap="square" rtlCol="0" anchor="t"/>
          <a:lstStyle/>
          <a:p>
            <a:pPr marL="171450" indent="-171450">
              <a:lnSpc>
                <a:spcPct val="140000"/>
              </a:lnSpc>
              <a:buFont typeface="Arial" panose="020B0604020202020204" pitchFamily="34" charset="0"/>
              <a:buChar char="•"/>
            </a:pPr>
            <a:r>
              <a:rPr lang="en-US" sz="1100" dirty="0">
                <a:solidFill>
                  <a:srgbClr val="475569"/>
                </a:solidFill>
                <a:latin typeface="Calibri" pitchFamily="34" charset="0"/>
                <a:ea typeface="Calibri" pitchFamily="34" charset="-122"/>
                <a:cs typeface="Calibri" pitchFamily="34" charset="-120"/>
              </a:rPr>
              <a:t>Prototype tested 100,000 alerts compressed to 20 prioritized incident cases</a:t>
            </a:r>
            <a:endParaRPr lang="en-US" sz="1100" dirty="0"/>
          </a:p>
          <a:p>
            <a:pPr marL="171450" indent="-171450">
              <a:lnSpc>
                <a:spcPct val="140000"/>
              </a:lnSpc>
              <a:buFont typeface="Arial" panose="020B0604020202020204" pitchFamily="34" charset="0"/>
              <a:buChar char="•"/>
            </a:pPr>
            <a:r>
              <a:rPr lang="en-US" sz="1100" dirty="0">
                <a:solidFill>
                  <a:srgbClr val="475569"/>
                </a:solidFill>
                <a:latin typeface="Calibri" pitchFamily="34" charset="0"/>
                <a:ea typeface="Calibri" pitchFamily="34" charset="-122"/>
                <a:cs typeface="Calibri" pitchFamily="34" charset="-120"/>
              </a:rPr>
              <a:t>Full attack chain preserved: brute-force → lateral move → C2</a:t>
            </a:r>
            <a:endParaRPr lang="en-US" sz="1100" dirty="0"/>
          </a:p>
          <a:p>
            <a:pPr marL="171450" indent="-171450">
              <a:lnSpc>
                <a:spcPct val="140000"/>
              </a:lnSpc>
              <a:buFont typeface="Arial" panose="020B0604020202020204" pitchFamily="34" charset="0"/>
              <a:buChar char="•"/>
            </a:pPr>
            <a:r>
              <a:rPr lang="en-US" sz="1100" dirty="0">
                <a:solidFill>
                  <a:srgbClr val="475569"/>
                </a:solidFill>
                <a:latin typeface="Calibri" pitchFamily="34" charset="0"/>
                <a:ea typeface="Calibri" pitchFamily="34" charset="-122"/>
                <a:cs typeface="Calibri" pitchFamily="34" charset="-120"/>
              </a:rPr>
              <a:t>Analysts focus on investigating incidents rather than sorting alerts</a:t>
            </a:r>
            <a:endParaRPr lang="en-US" sz="1100" dirty="0"/>
          </a:p>
          <a:p>
            <a:pPr marL="171450" indent="-171450">
              <a:lnSpc>
                <a:spcPct val="140000"/>
              </a:lnSpc>
              <a:buFont typeface="Arial" panose="020B0604020202020204" pitchFamily="34" charset="0"/>
              <a:buChar char="•"/>
            </a:pPr>
            <a:r>
              <a:rPr lang="en-US" sz="1100" dirty="0">
                <a:solidFill>
                  <a:srgbClr val="475569"/>
                </a:solidFill>
                <a:latin typeface="Calibri" pitchFamily="34" charset="0"/>
                <a:ea typeface="Calibri" pitchFamily="34" charset="-122"/>
                <a:cs typeface="Calibri" pitchFamily="34" charset="-120"/>
              </a:rPr>
              <a:t>Faster response, better prioritization, and same team size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FF"/>
          </a:solidFill>
          <a:ln w="12700">
            <a:solidFill>
              <a:srgbClr val="00D4FF"/>
            </a:solidFill>
            <a:prstDash val="solid"/>
          </a:ln>
        </p:spPr>
        <p:txBody>
          <a:bodyPr/>
          <a:lstStyle/>
          <a:p>
            <a:endParaRPr lang="en-US"/>
          </a:p>
        </p:txBody>
      </p:sp>
      <p:sp>
        <p:nvSpPr>
          <p:cNvPr id="3" name="Shape 1"/>
          <p:cNvSpPr/>
          <p:nvPr/>
        </p:nvSpPr>
        <p:spPr>
          <a:xfrm>
            <a:off x="0" y="0"/>
            <a:ext cx="9144000" cy="54864"/>
          </a:xfrm>
          <a:prstGeom prst="rect">
            <a:avLst/>
          </a:prstGeom>
          <a:solidFill>
            <a:srgbClr val="00D4FF"/>
          </a:solidFill>
          <a:ln w="12700">
            <a:solidFill>
              <a:srgbClr val="00D4FF"/>
            </a:solidFill>
            <a:prstDash val="solid"/>
          </a:ln>
        </p:spPr>
        <p:txBody>
          <a:bodyPr/>
          <a:lstStyle/>
          <a:p>
            <a:endParaRPr lang="en-US"/>
          </a:p>
        </p:txBody>
      </p:sp>
      <p:sp>
        <p:nvSpPr>
          <p:cNvPr id="4" name="Shape 2"/>
          <p:cNvSpPr/>
          <p:nvPr/>
        </p:nvSpPr>
        <p:spPr>
          <a:xfrm>
            <a:off x="5943600" y="2286000"/>
            <a:ext cx="4572000" cy="4572000"/>
          </a:xfrm>
          <a:prstGeom prst="ellipse">
            <a:avLst/>
          </a:prstGeom>
          <a:solidFill>
            <a:srgbClr val="00D4FF">
              <a:alpha val="6000"/>
            </a:srgbClr>
          </a:solidFill>
          <a:ln w="12700">
            <a:solidFill>
              <a:srgbClr val="00D4FF">
                <a:alpha val="12000"/>
              </a:srgbClr>
            </a:solidFill>
            <a:prstDash val="solid"/>
          </a:ln>
        </p:spPr>
        <p:txBody>
          <a:bodyPr/>
          <a:lstStyle/>
          <a:p>
            <a:endParaRPr lang="en-US"/>
          </a:p>
        </p:txBody>
      </p:sp>
      <p:sp>
        <p:nvSpPr>
          <p:cNvPr id="5" name="Text 3"/>
          <p:cNvSpPr/>
          <p:nvPr/>
        </p:nvSpPr>
        <p:spPr>
          <a:xfrm>
            <a:off x="365760" y="320040"/>
            <a:ext cx="7315200" cy="274320"/>
          </a:xfrm>
          <a:prstGeom prst="rect">
            <a:avLst/>
          </a:prstGeom>
          <a:noFill/>
          <a:ln/>
        </p:spPr>
        <p:txBody>
          <a:bodyPr wrap="square" rtlCol="0" anchor="ctr"/>
          <a:lstStyle/>
          <a:p>
            <a:pPr marL="0" indent="0">
              <a:buNone/>
            </a:pPr>
            <a:r>
              <a:rPr lang="en-US" sz="1000" b="1" kern="0" spc="300" dirty="0">
                <a:solidFill>
                  <a:srgbClr val="00D4FF"/>
                </a:solidFill>
                <a:latin typeface="Calibri" pitchFamily="34" charset="0"/>
                <a:ea typeface="Calibri" pitchFamily="34" charset="-122"/>
                <a:cs typeface="Calibri" pitchFamily="34" charset="-120"/>
              </a:rPr>
              <a:t>CONCLUSION</a:t>
            </a:r>
            <a:endParaRPr lang="en-US" sz="1000" dirty="0"/>
          </a:p>
        </p:txBody>
      </p:sp>
      <p:sp>
        <p:nvSpPr>
          <p:cNvPr id="6" name="Text 4"/>
          <p:cNvSpPr/>
          <p:nvPr/>
        </p:nvSpPr>
        <p:spPr>
          <a:xfrm>
            <a:off x="365760" y="658368"/>
            <a:ext cx="6181344" cy="1097280"/>
          </a:xfrm>
          <a:prstGeom prst="rect">
            <a:avLst/>
          </a:prstGeom>
          <a:noFill/>
          <a:ln/>
        </p:spPr>
        <p:txBody>
          <a:bodyPr wrap="square" rtlCol="0" anchor="ctr"/>
          <a:lstStyle/>
          <a:p>
            <a:pPr marL="0" indent="0">
              <a:lnSpc>
                <a:spcPct val="115000"/>
              </a:lnSpc>
              <a:buNone/>
            </a:pPr>
            <a:r>
              <a:rPr lang="en-US" sz="3200" b="1" dirty="0">
                <a:solidFill>
                  <a:srgbClr val="E8F0F8"/>
                </a:solidFill>
                <a:latin typeface="Calibri" pitchFamily="34" charset="0"/>
                <a:ea typeface="Calibri" pitchFamily="34" charset="-122"/>
                <a:cs typeface="Calibri" pitchFamily="34" charset="-120"/>
              </a:rPr>
              <a:t>Proof-of-Concept to</a:t>
            </a:r>
            <a:endParaRPr lang="en-US" sz="3200" dirty="0"/>
          </a:p>
          <a:p>
            <a:pPr marL="0" indent="0">
              <a:lnSpc>
                <a:spcPct val="115000"/>
              </a:lnSpc>
              <a:buNone/>
            </a:pPr>
            <a:r>
              <a:rPr lang="en-US" sz="3200" b="1" dirty="0">
                <a:solidFill>
                  <a:srgbClr val="E8F0F8"/>
                </a:solidFill>
                <a:latin typeface="Calibri" pitchFamily="34" charset="0"/>
                <a:ea typeface="Calibri" pitchFamily="34" charset="-122"/>
                <a:cs typeface="Calibri" pitchFamily="34" charset="-120"/>
              </a:rPr>
              <a:t>Decision-Support Prototype</a:t>
            </a:r>
            <a:endParaRPr lang="en-US" sz="3200" dirty="0"/>
          </a:p>
        </p:txBody>
      </p:sp>
      <p:sp>
        <p:nvSpPr>
          <p:cNvPr id="7" name="Shape 5"/>
          <p:cNvSpPr/>
          <p:nvPr/>
        </p:nvSpPr>
        <p:spPr>
          <a:xfrm>
            <a:off x="365760" y="1920240"/>
            <a:ext cx="6217920" cy="1005840"/>
          </a:xfrm>
          <a:prstGeom prst="rect">
            <a:avLst/>
          </a:prstGeom>
          <a:solidFill>
            <a:srgbClr val="1C2333"/>
          </a:solidFill>
          <a:ln w="12700">
            <a:solidFill>
              <a:srgbClr val="00D4FF"/>
            </a:solidFill>
            <a:prstDash val="solid"/>
          </a:ln>
          <a:effectLst>
            <a:outerShdw blurRad="127000" dist="38100" dir="8100000" algn="bl" rotWithShape="0">
              <a:srgbClr val="000000">
                <a:alpha val="25000"/>
              </a:srgbClr>
            </a:outerShdw>
          </a:effectLst>
        </p:spPr>
        <p:txBody>
          <a:bodyPr/>
          <a:lstStyle/>
          <a:p>
            <a:endParaRPr lang="en-US"/>
          </a:p>
        </p:txBody>
      </p:sp>
      <p:sp>
        <p:nvSpPr>
          <p:cNvPr id="8" name="Text 6"/>
          <p:cNvSpPr/>
          <p:nvPr/>
        </p:nvSpPr>
        <p:spPr>
          <a:xfrm>
            <a:off x="502920" y="1984248"/>
            <a:ext cx="5943600" cy="877824"/>
          </a:xfrm>
          <a:prstGeom prst="rect">
            <a:avLst/>
          </a:prstGeom>
          <a:noFill/>
          <a:ln/>
        </p:spPr>
        <p:txBody>
          <a:bodyPr wrap="square" rtlCol="0" anchor="ctr"/>
          <a:lstStyle/>
          <a:p>
            <a:pPr marL="0" indent="0">
              <a:lnSpc>
                <a:spcPct val="130000"/>
              </a:lnSpc>
              <a:buNone/>
            </a:pPr>
            <a:r>
              <a:rPr lang="en-US" sz="1150" dirty="0">
                <a:solidFill>
                  <a:srgbClr val="E8F0F8"/>
                </a:solidFill>
                <a:latin typeface="Calibri" pitchFamily="34" charset="0"/>
                <a:ea typeface="Calibri" pitchFamily="34" charset="-122"/>
                <a:cs typeface="Calibri" pitchFamily="34" charset="-120"/>
              </a:rPr>
              <a:t>100,000 alerts → 20 incidents → 4,010:1 compression. Every campaign recovered. No custom training. The engine has moved from experiment into a stable prototype that demonstrates reduces analyst fatigue while preserving the full attack narrative.</a:t>
            </a:r>
            <a:endParaRPr lang="en-US" sz="1150" dirty="0"/>
          </a:p>
        </p:txBody>
      </p:sp>
      <p:sp>
        <p:nvSpPr>
          <p:cNvPr id="12" name="Shape 10"/>
          <p:cNvSpPr/>
          <p:nvPr/>
        </p:nvSpPr>
        <p:spPr>
          <a:xfrm>
            <a:off x="6858000" y="502920"/>
            <a:ext cx="2011680" cy="1234440"/>
          </a:xfrm>
          <a:prstGeom prst="rect">
            <a:avLst/>
          </a:prstGeom>
          <a:solidFill>
            <a:srgbClr val="1C2333"/>
          </a:solidFill>
          <a:ln w="19050">
            <a:solidFill>
              <a:srgbClr val="00E87A"/>
            </a:solidFill>
            <a:prstDash val="solid"/>
          </a:ln>
          <a:effectLst>
            <a:outerShdw blurRad="127000" dist="38100" dir="8100000" algn="bl" rotWithShape="0">
              <a:srgbClr val="000000">
                <a:alpha val="25000"/>
              </a:srgbClr>
            </a:outerShdw>
          </a:effectLst>
        </p:spPr>
        <p:txBody>
          <a:bodyPr/>
          <a:lstStyle/>
          <a:p>
            <a:endParaRPr lang="en-US"/>
          </a:p>
        </p:txBody>
      </p:sp>
      <p:sp>
        <p:nvSpPr>
          <p:cNvPr id="13" name="Text 11"/>
          <p:cNvSpPr/>
          <p:nvPr/>
        </p:nvSpPr>
        <p:spPr>
          <a:xfrm>
            <a:off x="6858000" y="594360"/>
            <a:ext cx="2011680" cy="640080"/>
          </a:xfrm>
          <a:prstGeom prst="rect">
            <a:avLst/>
          </a:prstGeom>
          <a:noFill/>
          <a:ln/>
        </p:spPr>
        <p:txBody>
          <a:bodyPr wrap="square" rtlCol="0" anchor="ctr"/>
          <a:lstStyle/>
          <a:p>
            <a:pPr marL="0" indent="0" algn="ctr">
              <a:buNone/>
            </a:pPr>
            <a:r>
              <a:rPr lang="en-US" sz="3000" b="1" dirty="0">
                <a:solidFill>
                  <a:srgbClr val="00E87A"/>
                </a:solidFill>
                <a:latin typeface="Calibri" pitchFamily="34" charset="0"/>
                <a:ea typeface="Calibri" pitchFamily="34" charset="-122"/>
                <a:cs typeface="Calibri" pitchFamily="34" charset="-120"/>
              </a:rPr>
              <a:t>20/20</a:t>
            </a:r>
            <a:endParaRPr lang="en-US" sz="3000" dirty="0"/>
          </a:p>
        </p:txBody>
      </p:sp>
      <p:sp>
        <p:nvSpPr>
          <p:cNvPr id="14" name="Text 12"/>
          <p:cNvSpPr/>
          <p:nvPr/>
        </p:nvSpPr>
        <p:spPr>
          <a:xfrm>
            <a:off x="6858000" y="1216152"/>
            <a:ext cx="2011680" cy="42976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Campaigns</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Recovered</a:t>
            </a:r>
            <a:endParaRPr lang="en-US" sz="1000" dirty="0"/>
          </a:p>
        </p:txBody>
      </p:sp>
      <p:sp>
        <p:nvSpPr>
          <p:cNvPr id="15" name="Shape 13"/>
          <p:cNvSpPr/>
          <p:nvPr/>
        </p:nvSpPr>
        <p:spPr>
          <a:xfrm>
            <a:off x="6858000" y="1965960"/>
            <a:ext cx="2011680" cy="1234440"/>
          </a:xfrm>
          <a:prstGeom prst="rect">
            <a:avLst/>
          </a:prstGeom>
          <a:solidFill>
            <a:srgbClr val="1C2333"/>
          </a:solidFill>
          <a:ln w="19050">
            <a:solidFill>
              <a:srgbClr val="00D4FF"/>
            </a:solidFill>
            <a:prstDash val="solid"/>
          </a:ln>
          <a:effectLst>
            <a:outerShdw blurRad="127000" dist="38100" dir="8100000" algn="bl" rotWithShape="0">
              <a:srgbClr val="000000">
                <a:alpha val="25000"/>
              </a:srgbClr>
            </a:outerShdw>
          </a:effectLst>
        </p:spPr>
        <p:txBody>
          <a:bodyPr/>
          <a:lstStyle/>
          <a:p>
            <a:endParaRPr lang="en-US"/>
          </a:p>
        </p:txBody>
      </p:sp>
      <p:sp>
        <p:nvSpPr>
          <p:cNvPr id="16" name="Text 14"/>
          <p:cNvSpPr/>
          <p:nvPr/>
        </p:nvSpPr>
        <p:spPr>
          <a:xfrm>
            <a:off x="6858000" y="2057400"/>
            <a:ext cx="2011680" cy="640080"/>
          </a:xfrm>
          <a:prstGeom prst="rect">
            <a:avLst/>
          </a:prstGeom>
          <a:noFill/>
          <a:ln/>
        </p:spPr>
        <p:txBody>
          <a:bodyPr wrap="square" rtlCol="0" anchor="ctr"/>
          <a:lstStyle/>
          <a:p>
            <a:pPr marL="0" indent="0" algn="ctr">
              <a:buNone/>
            </a:pPr>
            <a:r>
              <a:rPr lang="en-US" sz="3000" b="1" dirty="0">
                <a:solidFill>
                  <a:srgbClr val="00D4FF"/>
                </a:solidFill>
                <a:latin typeface="Calibri" pitchFamily="34" charset="0"/>
                <a:ea typeface="Calibri" pitchFamily="34" charset="-122"/>
                <a:cs typeface="Calibri" pitchFamily="34" charset="-120"/>
              </a:rPr>
              <a:t>4,010×</a:t>
            </a:r>
            <a:endParaRPr lang="en-US" sz="3000" dirty="0"/>
          </a:p>
        </p:txBody>
      </p:sp>
      <p:sp>
        <p:nvSpPr>
          <p:cNvPr id="17" name="Text 15"/>
          <p:cNvSpPr/>
          <p:nvPr/>
        </p:nvSpPr>
        <p:spPr>
          <a:xfrm>
            <a:off x="6858000" y="2679192"/>
            <a:ext cx="2011680" cy="42976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Alert</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Compression</a:t>
            </a:r>
            <a:endParaRPr lang="en-US" sz="1000" dirty="0"/>
          </a:p>
        </p:txBody>
      </p:sp>
      <p:sp>
        <p:nvSpPr>
          <p:cNvPr id="18" name="Shape 16"/>
          <p:cNvSpPr/>
          <p:nvPr/>
        </p:nvSpPr>
        <p:spPr>
          <a:xfrm>
            <a:off x="6858000" y="3429000"/>
            <a:ext cx="2011680" cy="1234440"/>
          </a:xfrm>
          <a:prstGeom prst="rect">
            <a:avLst/>
          </a:prstGeom>
          <a:solidFill>
            <a:srgbClr val="1C2333"/>
          </a:solidFill>
          <a:ln w="19050">
            <a:solidFill>
              <a:srgbClr val="FFB703"/>
            </a:solidFill>
            <a:prstDash val="solid"/>
          </a:ln>
          <a:effectLst>
            <a:outerShdw blurRad="127000" dist="38100" dir="8100000" algn="bl" rotWithShape="0">
              <a:srgbClr val="000000">
                <a:alpha val="25000"/>
              </a:srgbClr>
            </a:outerShdw>
          </a:effectLst>
        </p:spPr>
        <p:txBody>
          <a:bodyPr/>
          <a:lstStyle/>
          <a:p>
            <a:endParaRPr lang="en-US"/>
          </a:p>
        </p:txBody>
      </p:sp>
      <p:sp>
        <p:nvSpPr>
          <p:cNvPr id="19" name="Text 17"/>
          <p:cNvSpPr/>
          <p:nvPr/>
        </p:nvSpPr>
        <p:spPr>
          <a:xfrm>
            <a:off x="6858000" y="3520440"/>
            <a:ext cx="2011680" cy="640080"/>
          </a:xfrm>
          <a:prstGeom prst="rect">
            <a:avLst/>
          </a:prstGeom>
          <a:noFill/>
          <a:ln/>
        </p:spPr>
        <p:txBody>
          <a:bodyPr wrap="square" rtlCol="0" anchor="ctr"/>
          <a:lstStyle/>
          <a:p>
            <a:pPr marL="0" indent="0" algn="ctr">
              <a:buNone/>
            </a:pPr>
            <a:r>
              <a:rPr lang="en-US" sz="3000" b="1" dirty="0">
                <a:solidFill>
                  <a:srgbClr val="FFB703"/>
                </a:solidFill>
                <a:latin typeface="Calibri" pitchFamily="34" charset="0"/>
                <a:ea typeface="Calibri" pitchFamily="34" charset="-122"/>
                <a:cs typeface="Calibri" pitchFamily="34" charset="-120"/>
              </a:rPr>
              <a:t>0</a:t>
            </a:r>
            <a:endParaRPr lang="en-US" sz="3000" dirty="0"/>
          </a:p>
        </p:txBody>
      </p:sp>
      <p:sp>
        <p:nvSpPr>
          <p:cNvPr id="20" name="Text 18"/>
          <p:cNvSpPr/>
          <p:nvPr/>
        </p:nvSpPr>
        <p:spPr>
          <a:xfrm>
            <a:off x="6858000" y="4142232"/>
            <a:ext cx="2011680" cy="42976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Training</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Required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D16E98D734E4848A66601948A4B773B" ma:contentTypeVersion="15" ma:contentTypeDescription="Create a new document." ma:contentTypeScope="" ma:versionID="76ab453d165292aa682f442d90a01d2d">
  <xsd:schema xmlns:xsd="http://www.w3.org/2001/XMLSchema" xmlns:xs="http://www.w3.org/2001/XMLSchema" xmlns:p="http://schemas.microsoft.com/office/2006/metadata/properties" xmlns:ns3="bb624ac4-931a-4cfc-97d9-dfb19d4c31d9" xmlns:ns4="2f572e85-880e-42f6-9c87-4ace17f0515e" targetNamespace="http://schemas.microsoft.com/office/2006/metadata/properties" ma:root="true" ma:fieldsID="bdaf06d424f183d3bef56a841e389f55" ns3:_="" ns4:_="">
    <xsd:import namespace="bb624ac4-931a-4cfc-97d9-dfb19d4c31d9"/>
    <xsd:import namespace="2f572e85-880e-42f6-9c87-4ace17f0515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DateTaken" minOccurs="0"/>
                <xsd:element ref="ns3:MediaServiceAutoTags" minOccurs="0"/>
                <xsd:element ref="ns3:MediaLengthInSeconds" minOccurs="0"/>
                <xsd:element ref="ns3:MediaServiceOCR" minOccurs="0"/>
                <xsd:element ref="ns3:MediaServiceGenerationTime" minOccurs="0"/>
                <xsd:element ref="ns3:MediaServiceEventHashCode" minOccurs="0"/>
                <xsd:element ref="ns3:MediaServiceObjectDetectorVersions" minOccurs="0"/>
                <xsd:element ref="ns3:MediaServiceSearchPropertie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624ac4-931a-4cfc-97d9-dfb19d4c31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f572e85-880e-42f6-9c87-4ace17f0515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b624ac4-931a-4cfc-97d9-dfb19d4c31d9" xsi:nil="true"/>
  </documentManagement>
</p:properties>
</file>

<file path=customXml/itemProps1.xml><?xml version="1.0" encoding="utf-8"?>
<ds:datastoreItem xmlns:ds="http://schemas.openxmlformats.org/officeDocument/2006/customXml" ds:itemID="{8D8B8715-F9CA-47FC-9B1A-1CBB22674CC5}">
  <ds:schemaRefs>
    <ds:schemaRef ds:uri="http://schemas.microsoft.com/sharepoint/v3/contenttype/forms"/>
  </ds:schemaRefs>
</ds:datastoreItem>
</file>

<file path=customXml/itemProps2.xml><?xml version="1.0" encoding="utf-8"?>
<ds:datastoreItem xmlns:ds="http://schemas.openxmlformats.org/officeDocument/2006/customXml" ds:itemID="{FA581FFB-926B-4DBE-A86D-85DF92D913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b624ac4-931a-4cfc-97d9-dfb19d4c31d9"/>
    <ds:schemaRef ds:uri="2f572e85-880e-42f6-9c87-4ace17f051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6BAE631-46A6-47C6-8C24-084D33EAF110}">
  <ds:schemaRefs>
    <ds:schemaRef ds:uri="http://purl.org/dc/elements/1.1/"/>
    <ds:schemaRef ds:uri="http://purl.org/dc/dcmitype/"/>
    <ds:schemaRef ds:uri="http://schemas.microsoft.com/office/2006/metadata/properties"/>
    <ds:schemaRef ds:uri="2f572e85-880e-42f6-9c87-4ace17f0515e"/>
    <ds:schemaRef ds:uri="bb624ac4-931a-4cfc-97d9-dfb19d4c31d9"/>
    <ds:schemaRef ds:uri="http://schemas.microsoft.com/office/2006/documentManagement/types"/>
    <ds:schemaRef ds:uri="http://www.w3.org/XML/1998/namespace"/>
    <ds:schemaRef ds:uri="http://purl.org/dc/terms/"/>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otalTime>43</TotalTime>
  <Words>1736</Words>
  <Application>Microsoft Office PowerPoint</Application>
  <PresentationFormat>On-screen Show (16:9)</PresentationFormat>
  <Paragraphs>291</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Alert Deduplication and Incident Clustering for SOC Efficiency</dc:title>
  <dc:subject>PptxGenJS Presentation</dc:subject>
  <dc:creator>Pengfei Zhang</dc:creator>
  <cp:lastModifiedBy>Zhang, Pengfei</cp:lastModifiedBy>
  <cp:revision>3</cp:revision>
  <dcterms:created xsi:type="dcterms:W3CDTF">2026-04-18T03:35:40Z</dcterms:created>
  <dcterms:modified xsi:type="dcterms:W3CDTF">2026-04-29T00:46:12Z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0x0101009D16E98D734E4848A66601948A4B773B</vt:lpwstr>
  </property>
</Properties>
</file>